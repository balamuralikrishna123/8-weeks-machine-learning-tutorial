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51" r:id="rId2"/>
  </p:sldMasterIdLst>
  <p:notesMasterIdLst>
    <p:notesMasterId r:id="rId16"/>
  </p:notesMasterIdLst>
  <p:sldIdLst>
    <p:sldId id="258" r:id="rId3"/>
    <p:sldId id="292" r:id="rId4"/>
    <p:sldId id="277" r:id="rId5"/>
    <p:sldId id="278" r:id="rId6"/>
    <p:sldId id="293" r:id="rId7"/>
    <p:sldId id="294" r:id="rId8"/>
    <p:sldId id="295" r:id="rId9"/>
    <p:sldId id="296" r:id="rId10"/>
    <p:sldId id="297" r:id="rId11"/>
    <p:sldId id="279" r:id="rId12"/>
    <p:sldId id="283" r:id="rId13"/>
    <p:sldId id="286" r:id="rId14"/>
    <p:sldId id="287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48" d="100"/>
          <a:sy n="48" d="100"/>
        </p:scale>
        <p:origin x="1800" y="376"/>
      </p:cViewPr>
      <p:guideLst>
        <p:guide orient="horz" pos="2160"/>
        <p:guide pos="28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E2C0DEF4-83B3-4C9A-B6F6-0EAF54BA149A}" type="datetimeFigureOut">
              <a:rPr lang="en-US"/>
              <a:pPr>
                <a:defRPr/>
              </a:pPr>
              <a:t>1/8/2023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9BD833F-AAAB-4D22-A597-0A3C0E2DD0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066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741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F1D1817-0083-4C24-A744-E9F7343A7C65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96220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017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66C1573-EAF5-45DE-928E-B4C1161D576A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4758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3251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AB38E36-BD97-4B44-89F6-5A0BBCF85A7F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63238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5299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10C66FF-7128-4516-864A-2FB666E85563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677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5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57347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7ED30AE9-B070-4C30-9AAB-2E9503B6133D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7074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69635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EABD975-1B8B-4846-9011-5766535A04CE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12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2314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71683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781D5DB-852D-4F88-8FF4-9E71763E4BF7}" type="slidenum">
              <a:rPr lang="en-US" smtClean="0">
                <a:cs typeface="Arial" charset="0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9588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12"/>
          <p:cNvSpPr/>
          <p:nvPr/>
        </p:nvSpPr>
        <p:spPr>
          <a:xfrm>
            <a:off x="65088" y="69850"/>
            <a:ext cx="9013825" cy="6691313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6"/>
          <p:cNvSpPr/>
          <p:nvPr/>
        </p:nvSpPr>
        <p:spPr>
          <a:xfrm>
            <a:off x="63500" y="1449388"/>
            <a:ext cx="9020175" cy="15271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9"/>
          <p:cNvSpPr/>
          <p:nvPr/>
        </p:nvSpPr>
        <p:spPr>
          <a:xfrm>
            <a:off x="63500" y="1397000"/>
            <a:ext cx="9020175" cy="12065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Rectangle 10"/>
          <p:cNvSpPr/>
          <p:nvPr/>
        </p:nvSpPr>
        <p:spPr>
          <a:xfrm>
            <a:off x="63500" y="2976563"/>
            <a:ext cx="9020175" cy="1111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066A5D-BA0E-4DE8-B23E-A769B992AF7A}" type="datetimeFigureOut">
              <a:rPr lang="en-US"/>
              <a:pPr>
                <a:defRPr/>
              </a:pPr>
              <a:t>1/8/2023</a:t>
            </a:fld>
            <a:endParaRPr lang="en-US"/>
          </a:p>
        </p:txBody>
      </p:sp>
      <p:sp>
        <p:nvSpPr>
          <p:cNvPr id="12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9A0BF1D7-D757-4D9A-BD5B-39282FFC63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3901E2-E19D-4201-B3C9-818842F22550}" type="datetimeFigureOut">
              <a:rPr lang="en-US"/>
              <a:pPr>
                <a:defRPr/>
              </a:pPr>
              <a:t>1/8/2023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6A596A-170A-4211-9355-B8A5D034BD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5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6"/>
          <p:cNvSpPr/>
          <p:nvPr/>
        </p:nvSpPr>
        <p:spPr>
          <a:xfrm flipV="1">
            <a:off x="69850" y="2376488"/>
            <a:ext cx="901382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7"/>
          <p:cNvSpPr/>
          <p:nvPr/>
        </p:nvSpPr>
        <p:spPr>
          <a:xfrm>
            <a:off x="69850" y="2341563"/>
            <a:ext cx="901382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8" name="Rectangle 8"/>
          <p:cNvSpPr/>
          <p:nvPr/>
        </p:nvSpPr>
        <p:spPr>
          <a:xfrm>
            <a:off x="68263" y="2468563"/>
            <a:ext cx="9015412" cy="4603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/>
          <a:lstStyle>
            <a:lvl1pPr algn="l">
              <a:buNone/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CA55E2-9DFA-4732-B48F-2B67833A19D4}" type="datetimeFigureOut">
              <a:rPr lang="en-US"/>
              <a:pPr>
                <a:defRPr/>
              </a:pPr>
              <a:t>1/8/2023</a:t>
            </a:fld>
            <a:endParaRPr lang="en-US"/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B2B91B-434C-4BBA-A32A-F93D2E5A40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746D4EF-09AF-42F3-8801-75DF8DCABFDB}" type="datetimeFigureOut">
              <a:rPr lang="en-US"/>
              <a:pPr>
                <a:defRPr/>
              </a:pPr>
              <a:t>1/8/2023</a:t>
            </a:fld>
            <a:endParaRPr lang="en-US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078378-564E-4108-9E07-E86268CFDE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anchor="b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D574C9-4A1E-4FB5-BCBA-946613FF140E}" type="datetimeFigureOut">
              <a:rPr lang="en-US"/>
              <a:pPr>
                <a:defRPr/>
              </a:pPr>
              <a:t>1/8/2023</a:t>
            </a:fld>
            <a:endParaRPr lang="en-US"/>
          </a:p>
        </p:txBody>
      </p:sp>
      <p:sp>
        <p:nvSpPr>
          <p:cNvPr id="8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F964C4-0297-4FDE-96C0-DB7128DFB2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1187D4-AFA6-4F2E-AA53-8BA53D5C6DDA}" type="datetimeFigureOut">
              <a:rPr lang="en-US"/>
              <a:pPr>
                <a:defRPr/>
              </a:pPr>
              <a:t>1/8/2023</a:t>
            </a:fld>
            <a:endParaRPr lang="en-US"/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8130-799B-4F8C-BC9C-30333977D8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B3D168-D0AE-4C0B-841B-6F1550F252A2}" type="datetimeFigureOut">
              <a:rPr lang="en-US"/>
              <a:pPr>
                <a:defRPr/>
              </a:pPr>
              <a:t>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0F6167F-477F-4F00-AD9B-2912554A70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6" name="Rounded Rectangle 8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/>
          <a:lstStyle>
            <a:lvl1pPr algn="l">
              <a:buNone/>
              <a:defRPr sz="4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B4ACC1-41B8-4A2A-8253-F284EDC425B2}" type="datetimeFigureOut">
              <a:rPr lang="en-US"/>
              <a:pPr>
                <a:defRPr/>
              </a:pPr>
              <a:t>1/8/2023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A165DC-440C-4A20-BB24-45AABA3304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0"/>
          <p:cNvSpPr/>
          <p:nvPr/>
        </p:nvSpPr>
        <p:spPr>
          <a:xfrm flipV="1">
            <a:off x="68263" y="4683125"/>
            <a:ext cx="9007475" cy="92075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6" name="Rectangle 11"/>
          <p:cNvSpPr/>
          <p:nvPr/>
        </p:nvSpPr>
        <p:spPr>
          <a:xfrm>
            <a:off x="68263" y="4649788"/>
            <a:ext cx="9007475" cy="46037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" name="Rectangle 12"/>
          <p:cNvSpPr/>
          <p:nvPr/>
        </p:nvSpPr>
        <p:spPr>
          <a:xfrm>
            <a:off x="68263" y="4773613"/>
            <a:ext cx="9007475" cy="47625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13459-AEFC-4AA8-B448-CFA844ABF384}" type="datetimeFigureOut">
              <a:rPr lang="en-US"/>
              <a:pPr>
                <a:defRPr/>
              </a:pPr>
              <a:t>1/8/2023</a:t>
            </a:fld>
            <a:endParaRPr lang="en-US"/>
          </a:p>
        </p:txBody>
      </p:sp>
      <p:sp>
        <p:nvSpPr>
          <p:cNvPr id="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050" y="6208713"/>
            <a:ext cx="4572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0188B9-42DC-46A9-A1A8-91441C80586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6A3B64-5F6C-4DE4-A446-0F966FC9907B}" type="datetimeFigureOut">
              <a:rPr lang="en-US"/>
              <a:pPr>
                <a:defRPr/>
              </a:pPr>
              <a:t>1/8/2023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11D7B3-8752-4CF4-943D-47BCF01FF5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8DC63C-CE19-403F-8575-78DCCAD3810D}" type="datetimeFigureOut">
              <a:rPr lang="en-US"/>
              <a:pPr>
                <a:defRPr/>
              </a:pPr>
              <a:t>1/8/2023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B30FE3-761E-4732-ACF9-2A2F11CFDA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5C8A-7E83-4440-97FE-A23DFB716A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298E-83AF-4683-B3CE-55C76FDB84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82165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5C8A-7E83-4440-97FE-A23DFB716A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298E-83AF-4683-B3CE-55C76FDB84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5757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5C8A-7E83-4440-97FE-A23DFB716A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298E-83AF-4683-B3CE-55C76FDB84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70713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5C8A-7E83-4440-97FE-A23DFB716A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298E-83AF-4683-B3CE-55C76FDB84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2671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5C8A-7E83-4440-97FE-A23DFB716A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298E-83AF-4683-B3CE-55C76FDB84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8517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5C8A-7E83-4440-97FE-A23DFB716A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298E-83AF-4683-B3CE-55C76FDB84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2015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5C8A-7E83-4440-97FE-A23DFB716A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298E-83AF-4683-B3CE-55C76FDB84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77573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5C8A-7E83-4440-97FE-A23DFB716A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298E-83AF-4683-B3CE-55C76FDB84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443475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5C8A-7E83-4440-97FE-A23DFB716A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298E-83AF-4683-B3CE-55C76FDB84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7100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5C8A-7E83-4440-97FE-A23DFB716A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298E-83AF-4683-B3CE-55C76FDB84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40618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FB5C8A-7E83-4440-97FE-A23DFB716AF8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1/8/2023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C2298E-83AF-4683-B3CE-55C76FDB84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5633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3500" y="69850"/>
            <a:ext cx="9013825" cy="6692900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28" name="Title Placeholder 21"/>
          <p:cNvSpPr>
            <a:spLocks noGrp="1"/>
          </p:cNvSpPr>
          <p:nvPr>
            <p:ph type="title"/>
          </p:nvPr>
        </p:nvSpPr>
        <p:spPr bwMode="auto">
          <a:xfrm>
            <a:off x="914400" y="274638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9144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9" name="Text Placeholder 12"/>
          <p:cNvSpPr>
            <a:spLocks noGrp="1"/>
          </p:cNvSpPr>
          <p:nvPr>
            <p:ph type="body" idx="1"/>
          </p:nvPr>
        </p:nvSpPr>
        <p:spPr bwMode="auto">
          <a:xfrm>
            <a:off x="914400" y="1447800"/>
            <a:ext cx="7772400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2D4EC9EA-9CC1-481C-B42F-848D1BE09268}" type="datetimeFigureOut">
              <a:rPr lang="en-US"/>
              <a:pPr>
                <a:defRPr/>
              </a:pPr>
              <a:t>1/8/2023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050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fld id="{FBEB8E82-BC28-4752-9DA4-E6C12AA2A6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0" r:id="rId2"/>
    <p:sldLayoutId id="2147483748" r:id="rId3"/>
    <p:sldLayoutId id="2147483741" r:id="rId4"/>
    <p:sldLayoutId id="2147483742" r:id="rId5"/>
    <p:sldLayoutId id="2147483743" r:id="rId6"/>
    <p:sldLayoutId id="2147483744" r:id="rId7"/>
    <p:sldLayoutId id="2147483749" r:id="rId8"/>
    <p:sldLayoutId id="2147483750" r:id="rId9"/>
    <p:sldLayoutId id="2147483745" r:id="rId10"/>
    <p:sldLayoutId id="214748374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Franklin Gothic Book" pitchFamily="34" charset="0"/>
        </a:defRPr>
      </a:lvl9pPr>
    </p:titleStyle>
    <p:bodyStyle>
      <a:lvl1pPr marL="273050" indent="-273050" algn="l" rtl="0" eaLnBrk="0" fontAlgn="base" hangingPunct="0">
        <a:spcBef>
          <a:spcPts val="575"/>
        </a:spcBef>
        <a:spcAft>
          <a:spcPct val="0"/>
        </a:spcAft>
        <a:buClr>
          <a:schemeClr val="accent1"/>
        </a:buClr>
        <a:buSzPct val="85000"/>
        <a:buFont typeface="Wingdings 2" pitchFamily="18" charset="2"/>
        <a:buChar char=""/>
        <a:defRPr sz="26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1pPr>
      <a:lvl2pPr marL="547688" indent="-228600" algn="l" rtl="0" eaLnBrk="0" fontAlgn="base" hangingPunct="0">
        <a:spcBef>
          <a:spcPts val="375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24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2pPr>
      <a:lvl3pPr marL="822325" indent="-228600" algn="l" rtl="0" eaLnBrk="0" fontAlgn="base" hangingPunct="0">
        <a:spcBef>
          <a:spcPts val="375"/>
        </a:spcBef>
        <a:spcAft>
          <a:spcPct val="0"/>
        </a:spcAft>
        <a:buClr>
          <a:srgbClr val="E6B1AB"/>
        </a:buClr>
        <a:buSzPct val="85000"/>
        <a:buFont typeface="Wingdings 2" pitchFamily="18" charset="2"/>
        <a:buChar char=""/>
        <a:defRPr sz="20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3pPr>
      <a:lvl4pPr marL="1096963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SzPct val="80000"/>
        <a:buFont typeface="Wingdings 2" pitchFamily="18" charset="2"/>
        <a:buChar char=""/>
        <a:defRPr sz="20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4pPr>
      <a:lvl5pPr marL="1371600" indent="-228600" algn="l" rtl="0" eaLnBrk="0" fontAlgn="base" hangingPunct="0">
        <a:spcBef>
          <a:spcPts val="375"/>
        </a:spcBef>
        <a:spcAft>
          <a:spcPct val="0"/>
        </a:spcAft>
        <a:buClr>
          <a:srgbClr val="A28E6A"/>
        </a:buClr>
        <a:buChar char="o"/>
        <a:defRPr sz="2000" kern="1200">
          <a:solidFill>
            <a:schemeClr val="tx1"/>
          </a:solidFill>
          <a:latin typeface="Franklin Gothic Book" pitchFamily="34" charset="0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74FB5C8A-7E83-4440-97FE-A23DFB716AF8}" type="datetimeFigureOut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1/8/2023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5C2298E-83AF-4683-B3CE-55C76FDB84B0}" type="slidenum">
              <a:rPr lang="en-US" smtClean="0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271390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emf"/><Relationship Id="rId4" Type="http://schemas.openxmlformats.org/officeDocument/2006/relationships/package" Target="../embeddings/Microsoft_Word_Document.docx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Characteristics of K-NN</a:t>
            </a:r>
          </a:p>
        </p:txBody>
      </p:sp>
      <p:sp>
        <p:nvSpPr>
          <p:cNvPr id="7171" name="Content Placeholder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>
              <a:buFont typeface="Wingdings 2" pitchFamily="18" charset="2"/>
              <a:buNone/>
            </a:pPr>
            <a:endParaRPr lang="en-US" altLang="en-US" sz="2800"/>
          </a:p>
          <a:p>
            <a:pPr eaLnBrk="1" hangingPunct="1">
              <a:buFont typeface="Wingdings 2" pitchFamily="18" charset="2"/>
              <a:buNone/>
            </a:pPr>
            <a:r>
              <a:rPr lang="en-US" altLang="en-US"/>
              <a:t>Data-driven, not model-driven</a:t>
            </a:r>
          </a:p>
          <a:p>
            <a:pPr eaLnBrk="1" hangingPunct="1">
              <a:buFont typeface="Wingdings 2" pitchFamily="18" charset="2"/>
              <a:buNone/>
            </a:pPr>
            <a:endParaRPr lang="en-US" altLang="en-US"/>
          </a:p>
          <a:p>
            <a:pPr eaLnBrk="1" hangingPunct="1">
              <a:buFont typeface="Wingdings 2" pitchFamily="18" charset="2"/>
              <a:buNone/>
            </a:pPr>
            <a:r>
              <a:rPr lang="en-US" altLang="en-US"/>
              <a:t>Makes no assumptions about the data</a:t>
            </a:r>
          </a:p>
          <a:p>
            <a:pPr lvl="1" eaLnBrk="1" hangingPunct="1">
              <a:buFont typeface="Wingdings 2" pitchFamily="18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</a:t>
            </a:r>
            <a:r>
              <a:rPr lang="en-US" dirty="0" err="1"/>
              <a:t>nn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KNN is a Supervised Learning algorithm that uses labeled input data set to predict the output of unknown data points.</a:t>
            </a:r>
          </a:p>
          <a:p>
            <a:r>
              <a:rPr lang="en-US" sz="2800" dirty="0"/>
              <a:t>It is one of the most simple Machine learning algorithms and it can be easily implemented for a varied set of problems.</a:t>
            </a:r>
          </a:p>
          <a:p>
            <a:r>
              <a:rPr lang="en-US" sz="2800" dirty="0"/>
              <a:t>It is mainly based on feature similarity. KNN checks how similar a data point is to its neighbor and classifies the data point into the class it is most similar to.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4743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Basic Idea</a:t>
            </a:r>
          </a:p>
        </p:txBody>
      </p:sp>
      <p:sp>
        <p:nvSpPr>
          <p:cNvPr id="9219" name="Content Placeholder 3"/>
          <p:cNvSpPr>
            <a:spLocks noGrp="1"/>
          </p:cNvSpPr>
          <p:nvPr>
            <p:ph sz="quarter" idx="1"/>
          </p:nvPr>
        </p:nvSpPr>
        <p:spPr>
          <a:xfrm>
            <a:off x="914400" y="1752600"/>
            <a:ext cx="7772400" cy="4267200"/>
          </a:xfrm>
        </p:spPr>
        <p:txBody>
          <a:bodyPr/>
          <a:lstStyle/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US" dirty="0"/>
              <a:t>For a given record to be classified, identify nearby records</a:t>
            </a:r>
          </a:p>
          <a:p>
            <a:pPr eaLnBrk="1" hangingPunct="1">
              <a:buFont typeface="Wingdings 2" pitchFamily="18" charset="2"/>
              <a:buNone/>
              <a:defRPr/>
            </a:pPr>
            <a:endParaRPr lang="en-US" dirty="0"/>
          </a:p>
          <a:p>
            <a:pPr eaLnBrk="1" hangingPunct="1">
              <a:buFont typeface="Wingdings 2" pitchFamily="18" charset="2"/>
              <a:buNone/>
              <a:defRPr/>
            </a:pPr>
            <a:r>
              <a:rPr lang="en-US" dirty="0"/>
              <a:t>“Near” means records with similar predictor values </a:t>
            </a:r>
            <a:r>
              <a:rPr lang="en-US" i="1" dirty="0"/>
              <a:t>X</a:t>
            </a:r>
            <a:r>
              <a:rPr lang="en-US" i="1" baseline="-25000" dirty="0"/>
              <a:t>1</a:t>
            </a:r>
            <a:r>
              <a:rPr lang="en-US" i="1" dirty="0"/>
              <a:t>, X</a:t>
            </a:r>
            <a:r>
              <a:rPr lang="en-US" i="1" baseline="-25000" dirty="0"/>
              <a:t>2</a:t>
            </a:r>
            <a:r>
              <a:rPr lang="en-US" i="1" dirty="0"/>
              <a:t>, … </a:t>
            </a:r>
            <a:r>
              <a:rPr lang="en-US" i="1" dirty="0" err="1"/>
              <a:t>X</a:t>
            </a:r>
            <a:r>
              <a:rPr lang="en-US" i="1" baseline="-25000" dirty="0" err="1"/>
              <a:t>p</a:t>
            </a:r>
            <a:endParaRPr lang="en-US" i="1" baseline="-25000" dirty="0"/>
          </a:p>
          <a:p>
            <a:pPr eaLnBrk="1" hangingPunct="1">
              <a:buFont typeface="Wingdings 2" pitchFamily="18" charset="2"/>
              <a:buNone/>
              <a:defRPr/>
            </a:pPr>
            <a:endParaRPr lang="en-US" i="1" baseline="-25000" dirty="0"/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US" dirty="0"/>
              <a:t>Classify the record as whatever the predominant class is among the nearby records (the “neighbors”)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en-US"/>
              <a:t>How to measure “nearby”?</a:t>
            </a:r>
          </a:p>
        </p:txBody>
      </p:sp>
      <p:sp>
        <p:nvSpPr>
          <p:cNvPr id="9219" name="Content Placeholder 2"/>
          <p:cNvSpPr>
            <a:spLocks noGrp="1"/>
          </p:cNvSpPr>
          <p:nvPr>
            <p:ph sz="quarter" idx="1"/>
          </p:nvPr>
        </p:nvSpPr>
        <p:spPr>
          <a:xfrm>
            <a:off x="1066800" y="1752600"/>
            <a:ext cx="6667500" cy="1143000"/>
          </a:xfrm>
        </p:spPr>
        <p:txBody>
          <a:bodyPr/>
          <a:lstStyle/>
          <a:p>
            <a:pPr marL="0" indent="0" eaLnBrk="1" hangingPunct="1">
              <a:buFont typeface="Wingdings 2" pitchFamily="18" charset="2"/>
              <a:buNone/>
            </a:pPr>
            <a:r>
              <a:rPr lang="en-US" altLang="en-US"/>
              <a:t>The most popular distance measure is </a:t>
            </a:r>
            <a:r>
              <a:rPr lang="en-US" altLang="en-US" b="1"/>
              <a:t>Euclidean distance</a:t>
            </a:r>
          </a:p>
        </p:txBody>
      </p:sp>
      <p:sp>
        <p:nvSpPr>
          <p:cNvPr id="9220" name="Content Placeholder 3"/>
          <p:cNvSpPr>
            <a:spLocks noGrp="1"/>
          </p:cNvSpPr>
          <p:nvPr>
            <p:ph sz="quarter" idx="2"/>
          </p:nvPr>
        </p:nvSpPr>
        <p:spPr>
          <a:xfrm>
            <a:off x="609600" y="2819400"/>
            <a:ext cx="8074025" cy="1676400"/>
          </a:xfrm>
        </p:spPr>
        <p:txBody>
          <a:bodyPr/>
          <a:lstStyle/>
          <a:p>
            <a:pPr eaLnBrk="1" hangingPunct="1">
              <a:buFont typeface="Wingdings 2" pitchFamily="18" charset="2"/>
              <a:buNone/>
            </a:pPr>
            <a:r>
              <a:rPr lang="en-US" altLang="en-US"/>
              <a:t> </a:t>
            </a:r>
          </a:p>
        </p:txBody>
      </p:sp>
      <p:graphicFrame>
        <p:nvGraphicFramePr>
          <p:cNvPr id="9221" name="Object 2"/>
          <p:cNvGraphicFramePr>
            <a:graphicFrameLocks noChangeAspect="1"/>
          </p:cNvGraphicFramePr>
          <p:nvPr/>
        </p:nvGraphicFramePr>
        <p:xfrm>
          <a:off x="-3335338" y="3124200"/>
          <a:ext cx="15662276" cy="1447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2" name="Document" r:id="rId4" imgW="5949456" imgH="492286" progId="Word.Document.12">
                  <p:embed/>
                </p:oleObj>
              </mc:Choice>
              <mc:Fallback>
                <p:oleObj name="Document" r:id="rId4" imgW="5949456" imgH="492286" progId="Word.Document.12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3335338" y="3124200"/>
                        <a:ext cx="15662276" cy="1447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3400" y="4419600"/>
            <a:ext cx="8077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/>
              <a:t> Typically, predictor variables are first normalized (= standardized) to put them on comparable scales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699022"/>
            <a:ext cx="6858000" cy="688733"/>
          </a:xfrm>
        </p:spPr>
        <p:txBody>
          <a:bodyPr>
            <a:normAutofit fontScale="90000"/>
          </a:bodyPr>
          <a:lstStyle/>
          <a:p>
            <a:r>
              <a:rPr lang="en-US" dirty="0"/>
              <a:t>K-nearest neighbor</a:t>
            </a:r>
          </a:p>
        </p:txBody>
      </p:sp>
      <p:pic>
        <p:nvPicPr>
          <p:cNvPr id="4" name="Picture 3" descr="How does KNN Algorithm work - KNN Algorithm In R - Edureka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0492" y="2789200"/>
            <a:ext cx="4208192" cy="267902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376897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= 3</a:t>
            </a:r>
          </a:p>
        </p:txBody>
      </p:sp>
      <p:pic>
        <p:nvPicPr>
          <p:cNvPr id="3" name="Picture 2" descr="How does KNN Algorithm work 1 - KNN Algorithm In R - Edureka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5054" y="2446299"/>
            <a:ext cx="4541334" cy="24755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36311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 = 7</a:t>
            </a:r>
          </a:p>
        </p:txBody>
      </p:sp>
      <p:pic>
        <p:nvPicPr>
          <p:cNvPr id="3" name="Picture 2" descr="How does KNN Algorithm work 2 - KNN Algorithm In R - Edureka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971" y="2496480"/>
            <a:ext cx="4733693" cy="25842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729096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31094"/>
            <a:ext cx="7886700" cy="1507564"/>
          </a:xfrm>
        </p:spPr>
        <p:txBody>
          <a:bodyPr>
            <a:normAutofit fontScale="90000"/>
          </a:bodyPr>
          <a:lstStyle/>
          <a:p>
            <a:r>
              <a:rPr lang="en-US" dirty="0"/>
              <a:t>Euclidean Distance</a:t>
            </a:r>
            <a:br>
              <a:rPr lang="en-US" dirty="0"/>
            </a:br>
            <a:br>
              <a:rPr lang="en-US" dirty="0"/>
            </a:br>
            <a:r>
              <a:rPr lang="en-US" sz="2700" dirty="0"/>
              <a:t>Euclidean distance is a measure to determine  the distance between a new data point and its neighbors</a:t>
            </a:r>
          </a:p>
        </p:txBody>
      </p:sp>
      <p:pic>
        <p:nvPicPr>
          <p:cNvPr id="3" name="Picture 2" descr="Euclidian Distance - KNN Algorithm In R - Edureka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2864" y="3081919"/>
            <a:ext cx="3997712" cy="248393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513580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1743" y="1883802"/>
            <a:ext cx="7886700" cy="994172"/>
          </a:xfrm>
        </p:spPr>
        <p:txBody>
          <a:bodyPr>
            <a:normAutofit fontScale="90000"/>
          </a:bodyPr>
          <a:lstStyle/>
          <a:p>
            <a:r>
              <a:rPr lang="en-US" dirty="0"/>
              <a:t>Calculate Euclidean Distance</a:t>
            </a:r>
            <a:br>
              <a:rPr lang="en-US" dirty="0"/>
            </a:br>
            <a:br>
              <a:rPr lang="en-US" dirty="0"/>
            </a:br>
            <a:r>
              <a:rPr lang="en-US" sz="2700" dirty="0"/>
              <a:t>The coordinates for P1 and P2 are (1,4) and (5,1) </a:t>
            </a:r>
            <a:br>
              <a:rPr lang="en-US" sz="2700" dirty="0"/>
            </a:br>
            <a:r>
              <a:rPr lang="en-US" sz="2700" dirty="0"/>
              <a:t>The Euclidian Distance can be calculated:</a:t>
            </a:r>
            <a:br>
              <a:rPr lang="en-US" sz="2700" dirty="0"/>
            </a:br>
            <a:endParaRPr lang="en-US" sz="2700" dirty="0"/>
          </a:p>
        </p:txBody>
      </p:sp>
      <p:pic>
        <p:nvPicPr>
          <p:cNvPr id="3" name="Picture 2" descr="Euclidian Distance Calculations - KNN Algorithm In R - Edureka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8880" y="3274277"/>
            <a:ext cx="5427857" cy="25257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83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Choosing k</a:t>
            </a:r>
          </a:p>
        </p:txBody>
      </p:sp>
      <p:sp>
        <p:nvSpPr>
          <p:cNvPr id="1024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US" i="1" dirty="0"/>
              <a:t>K</a:t>
            </a:r>
            <a:r>
              <a:rPr lang="en-US" dirty="0"/>
              <a:t> is the number of nearby neighbors to be used to classify the new record</a:t>
            </a:r>
          </a:p>
          <a:p>
            <a:pPr lvl="2" eaLnBrk="1" hangingPunct="1">
              <a:buFont typeface="Wingdings 2" pitchFamily="18" charset="2"/>
              <a:buNone/>
              <a:defRPr/>
            </a:pPr>
            <a:r>
              <a:rPr lang="en-US" i="1" dirty="0"/>
              <a:t>K</a:t>
            </a:r>
            <a:r>
              <a:rPr lang="en-US" dirty="0"/>
              <a:t>=1 means use the single nearest record</a:t>
            </a:r>
          </a:p>
          <a:p>
            <a:pPr lvl="2" eaLnBrk="1" hangingPunct="1">
              <a:buFont typeface="Wingdings 2" pitchFamily="18" charset="2"/>
              <a:buNone/>
              <a:defRPr/>
            </a:pPr>
            <a:r>
              <a:rPr lang="en-US" i="1" dirty="0"/>
              <a:t>K</a:t>
            </a:r>
            <a:r>
              <a:rPr lang="en-US" dirty="0"/>
              <a:t>=5 means use the 5 nearest records</a:t>
            </a:r>
          </a:p>
          <a:p>
            <a:pPr eaLnBrk="1" hangingPunct="1">
              <a:defRPr/>
            </a:pPr>
            <a:endParaRPr lang="en-US" dirty="0"/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US" dirty="0"/>
              <a:t>Typically choose that value of </a:t>
            </a:r>
            <a:r>
              <a:rPr lang="en-US" i="1" dirty="0"/>
              <a:t>k</a:t>
            </a:r>
            <a:r>
              <a:rPr lang="en-US" dirty="0"/>
              <a:t> which has lowest error rate in validation data</a:t>
            </a:r>
          </a:p>
          <a:p>
            <a:pPr eaLnBrk="1" hangingPunct="1">
              <a:buFont typeface="Wingdings 2" pitchFamily="18" charset="2"/>
              <a:buNone/>
              <a:defRPr/>
            </a:pPr>
            <a:endParaRPr lang="en-US" dirty="0"/>
          </a:p>
          <a:p>
            <a:pPr eaLnBrk="1" hangingPunct="1">
              <a:buFont typeface="Wingdings 2" pitchFamily="18" charset="2"/>
              <a:buNone/>
              <a:defRPr/>
            </a:pPr>
            <a:endParaRPr lang="en-US" dirty="0"/>
          </a:p>
          <a:p>
            <a:pPr eaLnBrk="1" hangingPunct="1">
              <a:buFont typeface="Wingdings 2" pitchFamily="18" charset="2"/>
              <a:buNone/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Low </a:t>
            </a:r>
            <a:r>
              <a:rPr lang="en-US" altLang="en-US" i="1"/>
              <a:t>k</a:t>
            </a:r>
            <a:r>
              <a:rPr lang="en-US" altLang="en-US"/>
              <a:t> vs. High </a:t>
            </a:r>
            <a:r>
              <a:rPr lang="en-US" altLang="en-US" i="1"/>
              <a:t>k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914400" y="1828800"/>
            <a:ext cx="7772400" cy="4191000"/>
          </a:xfrm>
        </p:spPr>
        <p:txBody>
          <a:bodyPr/>
          <a:lstStyle/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US" dirty="0"/>
              <a:t>Low values of </a:t>
            </a:r>
            <a:r>
              <a:rPr lang="en-US" i="1" dirty="0"/>
              <a:t>k</a:t>
            </a:r>
            <a:r>
              <a:rPr lang="en-US" dirty="0"/>
              <a:t> (1, 3, …) capture local structure in data (but also noise)</a:t>
            </a:r>
          </a:p>
          <a:p>
            <a:pPr marL="0" indent="0" eaLnBrk="1" hangingPunct="1">
              <a:buFont typeface="Wingdings 2" pitchFamily="18" charset="2"/>
              <a:buNone/>
              <a:defRPr/>
            </a:pPr>
            <a:endParaRPr lang="en-US" dirty="0"/>
          </a:p>
          <a:p>
            <a:pPr marL="0" indent="0" eaLnBrk="1" hangingPunct="1">
              <a:buFont typeface="Wingdings 2" pitchFamily="18" charset="2"/>
              <a:buNone/>
              <a:defRPr/>
            </a:pPr>
            <a:r>
              <a:rPr lang="en-US" dirty="0"/>
              <a:t>High values of </a:t>
            </a:r>
            <a:r>
              <a:rPr lang="en-US" i="1" dirty="0"/>
              <a:t>k</a:t>
            </a:r>
            <a:r>
              <a:rPr lang="en-US" dirty="0"/>
              <a:t> provide more smoothing, less noise, but may miss local structure</a:t>
            </a:r>
          </a:p>
          <a:p>
            <a:pPr eaLnBrk="1" hangingPunct="1">
              <a:defRPr/>
            </a:pPr>
            <a:endParaRPr lang="en-US" dirty="0"/>
          </a:p>
          <a:p>
            <a:pPr eaLnBrk="1" hangingPunct="1">
              <a:defRPr/>
            </a:pPr>
            <a:endParaRPr lang="en-US" dirty="0"/>
          </a:p>
          <a:p>
            <a:pPr marL="346075" lvl="1" indent="-26988" eaLnBrk="1" hangingPunct="1">
              <a:buFont typeface="Wingdings 2" pitchFamily="18" charset="2"/>
              <a:buNone/>
              <a:defRPr/>
            </a:pPr>
            <a:r>
              <a:rPr lang="en-US" b="1" dirty="0"/>
              <a:t>Note:</a:t>
            </a:r>
            <a:r>
              <a:rPr lang="en-US" dirty="0"/>
              <a:t>  the extreme case of k = n (i.e., the entire data set) is the same as the “naïve rule” (classify all records according to majority class)</a:t>
            </a:r>
          </a:p>
          <a:p>
            <a:pPr eaLnBrk="1" hangingPunct="1">
              <a:defRPr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Advantages</a:t>
            </a:r>
          </a:p>
        </p:txBody>
      </p:sp>
      <p:sp>
        <p:nvSpPr>
          <p:cNvPr id="17411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Simple</a:t>
            </a:r>
          </a:p>
          <a:p>
            <a:pPr eaLnBrk="1" hangingPunct="1"/>
            <a:r>
              <a:rPr lang="en-US" altLang="en-US"/>
              <a:t>No assumptions required about Normal distribution, etc.</a:t>
            </a:r>
          </a:p>
          <a:p>
            <a:pPr eaLnBrk="1" hangingPunct="1"/>
            <a:r>
              <a:rPr lang="en-US" altLang="en-US"/>
              <a:t>Effective at capturing complex interactions among variables without having to define a statistical model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Shortcomings</a:t>
            </a:r>
          </a:p>
        </p:txBody>
      </p:sp>
      <p:sp>
        <p:nvSpPr>
          <p:cNvPr id="18435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marL="514350" indent="-514350" eaLnBrk="1" hangingPunct="1"/>
            <a:r>
              <a:rPr lang="en-US" altLang="en-US"/>
              <a:t>Required size of training set increases exponentially with # of predictors, </a:t>
            </a:r>
            <a:r>
              <a:rPr lang="en-US" altLang="en-US" i="1"/>
              <a:t>p</a:t>
            </a:r>
          </a:p>
          <a:p>
            <a:pPr marL="568325" lvl="2" indent="-22225" eaLnBrk="1" hangingPunct="1">
              <a:buFont typeface="Wingdings 2" pitchFamily="18" charset="2"/>
              <a:buNone/>
            </a:pPr>
            <a:r>
              <a:rPr lang="en-US" altLang="en-US"/>
              <a:t>This is because expected distance to nearest neighbor increases with </a:t>
            </a:r>
            <a:r>
              <a:rPr lang="en-US" altLang="en-US" i="1"/>
              <a:t>p </a:t>
            </a:r>
            <a:r>
              <a:rPr lang="en-US" altLang="en-US"/>
              <a:t>(with large vector of predictors, all records end up “far away” from each other)</a:t>
            </a:r>
          </a:p>
          <a:p>
            <a:pPr marL="514350" indent="-514350" eaLnBrk="1" hangingPunct="1"/>
            <a:r>
              <a:rPr lang="en-US" altLang="en-US"/>
              <a:t>In a large training set, it takes a long time to find distances to all the neighbors and then identify the nearest one(s)</a:t>
            </a:r>
          </a:p>
          <a:p>
            <a:pPr marL="514350" indent="-514350" eaLnBrk="1" hangingPunct="1"/>
            <a:r>
              <a:rPr lang="en-US" altLang="en-US"/>
              <a:t>These constitute “curse of dimensionality”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3162</TotalTime>
  <Words>465</Words>
  <Application>Microsoft Office PowerPoint</Application>
  <PresentationFormat>On-screen Show (4:3)</PresentationFormat>
  <Paragraphs>54</Paragraphs>
  <Slides>13</Slides>
  <Notes>7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Calibri</vt:lpstr>
      <vt:lpstr>Calibri Light</vt:lpstr>
      <vt:lpstr>Franklin Gothic Book</vt:lpstr>
      <vt:lpstr>Perpetua</vt:lpstr>
      <vt:lpstr>Wingdings 2</vt:lpstr>
      <vt:lpstr>Equity</vt:lpstr>
      <vt:lpstr>Office Theme</vt:lpstr>
      <vt:lpstr>Document</vt:lpstr>
      <vt:lpstr>Characteristics of K-NN</vt:lpstr>
      <vt:lpstr>K-nn</vt:lpstr>
      <vt:lpstr>Basic Idea</vt:lpstr>
      <vt:lpstr>How to measure “nearby”?</vt:lpstr>
      <vt:lpstr>K-nearest neighbor</vt:lpstr>
      <vt:lpstr>K = 3</vt:lpstr>
      <vt:lpstr>K = 7</vt:lpstr>
      <vt:lpstr>Euclidean Distance  Euclidean distance is a measure to determine  the distance between a new data point and its neighbors</vt:lpstr>
      <vt:lpstr>Calculate Euclidean Distance  The coordinates for P1 and P2 are (1,4) and (5,1)  The Euclidian Distance can be calculated: </vt:lpstr>
      <vt:lpstr>Choosing k</vt:lpstr>
      <vt:lpstr>Low k vs. High k</vt:lpstr>
      <vt:lpstr>Advantages</vt:lpstr>
      <vt:lpstr>Shortcomings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 – Three Simple Classification Methods</dc:title>
  <dc:creator>Peter</dc:creator>
  <cp:lastModifiedBy>John Stewart</cp:lastModifiedBy>
  <cp:revision>140</cp:revision>
  <dcterms:created xsi:type="dcterms:W3CDTF">2008-12-02T19:01:39Z</dcterms:created>
  <dcterms:modified xsi:type="dcterms:W3CDTF">2023-01-08T19:16:33Z</dcterms:modified>
</cp:coreProperties>
</file>