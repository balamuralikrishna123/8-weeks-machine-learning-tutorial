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7" r:id="rId2"/>
    <p:sldId id="258" r:id="rId3"/>
    <p:sldId id="259" r:id="rId4"/>
    <p:sldId id="261" r:id="rId5"/>
    <p:sldId id="262" r:id="rId6"/>
    <p:sldId id="260" r:id="rId7"/>
    <p:sldId id="263" r:id="rId8"/>
    <p:sldId id="264" r:id="rId9"/>
    <p:sldId id="266" r:id="rId10"/>
    <p:sldId id="265" r:id="rId11"/>
    <p:sldId id="296" r:id="rId12"/>
    <p:sldId id="267" r:id="rId13"/>
    <p:sldId id="279" r:id="rId14"/>
    <p:sldId id="299" r:id="rId15"/>
    <p:sldId id="300" r:id="rId16"/>
    <p:sldId id="269" r:id="rId17"/>
    <p:sldId id="301" r:id="rId1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27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28BE2565-3320-4806-BB46-5193C26F9324}" type="datetimeFigureOut">
              <a:rPr lang="en-US"/>
              <a:pPr>
                <a:defRPr/>
              </a:pPr>
              <a:t>9/1/2021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AFC92CCA-6ED6-4BEF-9CC6-EA19E2FACE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6421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01FB0BC4-5E11-486B-8421-B720879C19EE}" type="slidenum">
              <a:rPr lang="en-US" altLang="en-US" smtClean="0"/>
              <a:pPr>
                <a:defRPr/>
              </a:pPr>
              <a:t>1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3874941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0A1783E6-1880-440B-8AD5-0B1F92DA6702}" type="slidenum">
              <a:rPr lang="en-US" altLang="en-US" smtClean="0"/>
              <a:pPr>
                <a:defRPr/>
              </a:pPr>
              <a:t>2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577613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6C90C366-52D6-4EF7-AF20-EF2D72A63B49}" type="slidenum">
              <a:rPr lang="en-US" altLang="en-US" smtClean="0"/>
              <a:pPr>
                <a:defRPr/>
              </a:pPr>
              <a:t>3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3767626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EC853A91-13D6-4E60-BE96-D45B2CCC974B}" type="slidenum">
              <a:rPr lang="en-US" altLang="en-US" smtClean="0"/>
              <a:pPr>
                <a:defRPr/>
              </a:pPr>
              <a:t>4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8184874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76DE3CF6-B7CF-47A6-9430-6FF5F85982D2}" type="slidenum">
              <a:rPr lang="en-US" altLang="en-US" smtClean="0"/>
              <a:pPr>
                <a:defRPr/>
              </a:pPr>
              <a:t>5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0365281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14EB8FED-DB97-49AA-BE15-7730B8F08CBE}" type="slidenum">
              <a:rPr lang="en-US" altLang="en-US" smtClean="0"/>
              <a:pPr>
                <a:defRPr/>
              </a:pPr>
              <a:t>6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0285539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0BA60038-242D-47E0-8C19-1D96229E30A1}" type="slidenum">
              <a:rPr lang="en-US" altLang="en-US" smtClean="0"/>
              <a:pPr>
                <a:defRPr/>
              </a:pPr>
              <a:t>7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5436249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E919FB9B-C744-43BB-9BD5-1F7919333A99}" type="slidenum">
              <a:rPr lang="en-US" altLang="en-US" smtClean="0"/>
              <a:pPr>
                <a:defRPr/>
              </a:pPr>
              <a:t>8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9593305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6C9053C-A1EA-45D3-92AA-0D3EAA0E62EF}" type="slidenum">
              <a:rPr lang="en-US" altLang="en-US" smtClean="0"/>
              <a:pPr>
                <a:defRPr/>
              </a:pPr>
              <a:t>9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6413242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C6EDD5E9-A87E-4415-8867-5C9907364B72}" type="slidenum">
              <a:rPr lang="en-US" altLang="en-US" smtClean="0"/>
              <a:pPr>
                <a:defRPr/>
              </a:pPr>
              <a:t>10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8166148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1EDE4318-B7C9-47BB-A124-553C1AF7018E}" type="slidenum">
              <a:rPr lang="en-US" altLang="en-US" smtClean="0"/>
              <a:pPr>
                <a:defRPr/>
              </a:pPr>
              <a:t>11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2728347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FC25E811-F536-40A3-90FC-D3CE526CEF7D}" type="slidenum">
              <a:rPr lang="en-US" altLang="en-US" smtClean="0"/>
              <a:pPr>
                <a:defRPr/>
              </a:pPr>
              <a:t>12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9266232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11A55E03-30BF-4FDF-97D6-DBC265AF5BEC}" type="slidenum">
              <a:rPr lang="en-US" altLang="en-US" smtClean="0"/>
              <a:pPr>
                <a:defRPr/>
              </a:pPr>
              <a:t>13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5409481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B67B116F-68AE-47AB-B339-ED7FCB21684F}" type="slidenum">
              <a:rPr lang="en-US" altLang="en-US" smtClean="0"/>
              <a:pPr>
                <a:defRPr/>
              </a:pPr>
              <a:t>16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6826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5" name="Rounded Rectangle 4"/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CF8F9A-6B9C-4E99-A672-AA22494AC827}" type="datetimeFigureOut">
              <a:rPr lang="en-US"/>
              <a:pPr>
                <a:defRPr/>
              </a:pPr>
              <a:t>9/1/2021</a:t>
            </a:fld>
            <a:endParaRPr lang="en-US"/>
          </a:p>
        </p:txBody>
      </p:sp>
      <p:sp>
        <p:nvSpPr>
          <p:cNvPr id="12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516C8228-8E3D-47B4-9F2F-4DFD1683B7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B7CE3-98A8-44D5-97E5-518A21F75621}" type="datetimeFigureOut">
              <a:rPr lang="en-US"/>
              <a:pPr>
                <a:defRPr/>
              </a:pPr>
              <a:t>9/1/2021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632A48-17A9-4882-998A-9ED17B95E2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5" name="Rounded Rectangle 4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B5CB7E-CA62-4728-9A01-E4C077EDB16C}" type="datetimeFigureOut">
              <a:rPr lang="en-US"/>
              <a:pPr>
                <a:defRPr/>
              </a:pPr>
              <a:t>9/1/2021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0E0AE4-B6E7-49A2-842A-93E266E87A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95EC6D-69CF-4B50-8DD2-755FB0A87272}" type="datetimeFigureOut">
              <a:rPr lang="en-US"/>
              <a:pPr>
                <a:defRPr/>
              </a:pPr>
              <a:t>9/1/2021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5F50A3-077B-40C7-8B7E-79D4A02C6B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EEC02D-2D74-4675-AE58-6EA7616DA41A}" type="datetimeFigureOut">
              <a:rPr lang="en-US"/>
              <a:pPr>
                <a:defRPr/>
              </a:pPr>
              <a:t>9/1/2021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CC5DC6-0AE3-43DB-BABD-7BB5792B88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176C86-FDB5-49B3-81C9-7F1E7740B715}" type="datetimeFigureOut">
              <a:rPr lang="en-US"/>
              <a:pPr>
                <a:defRPr/>
              </a:pPr>
              <a:t>9/1/2021</a:t>
            </a:fld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B071CF-07B6-4068-B301-CCA93B5728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8B99C1-E074-4312-A4FB-54633EB37A66}" type="datetimeFigureOut">
              <a:rPr lang="en-US"/>
              <a:pPr>
                <a:defRPr/>
              </a:pPr>
              <a:t>9/1/2021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17ABAE-5DFD-4654-A34A-BF977A0C00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6" name="Rounded Rectangle 5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640A97-526F-4C11-AAA7-3EA03338936B}" type="datetimeFigureOut">
              <a:rPr lang="en-US"/>
              <a:pPr>
                <a:defRPr/>
              </a:pPr>
              <a:t>9/1/2021</a:t>
            </a:fld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508FFC-EB67-4A7A-8EBD-EF81F1F68A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E96CDF-B34A-4A0F-A35A-AE968AC36E54}" type="datetimeFigureOut">
              <a:rPr lang="en-US"/>
              <a:pPr>
                <a:defRPr/>
              </a:pPr>
              <a:t>9/1/2021</a:t>
            </a:fld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01F9DF-8103-4ADE-8F25-4A16D6EF88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8DFAE8-BBF0-417D-AA10-2919B6E99BD4}" type="datetimeFigureOut">
              <a:rPr lang="en-US"/>
              <a:pPr>
                <a:defRPr/>
              </a:pPr>
              <a:t>9/1/2021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76D68C-F9C0-4CA0-8052-8D5E38C495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446EDF-5A8D-479C-AC59-E0526DE12ADB}" type="datetimeFigureOut">
              <a:rPr lang="en-US"/>
              <a:pPr>
                <a:defRPr/>
              </a:pPr>
              <a:t>9/1/2021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80508F-1B81-4EC0-93A6-1A3FE4877C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F63335-4D21-470B-BED0-FABBD057111B}" type="datetimeFigureOut">
              <a:rPr lang="en-US"/>
              <a:pPr>
                <a:defRPr/>
              </a:pPr>
              <a:t>9/1/2021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895D13-DB23-4D94-8613-9A6BA2DDDD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28" name="Title Placeholder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9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FB64C0EF-C16E-4BDC-AE2F-623E38AA30B2}" type="datetimeFigureOut">
              <a:rPr lang="en-US"/>
              <a:pPr>
                <a:defRPr/>
              </a:pPr>
              <a:t>9/1/2021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45545526-4F4B-44FF-8542-E0A2891DED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03" r:id="rId2"/>
    <p:sldLayoutId id="2147483812" r:id="rId3"/>
    <p:sldLayoutId id="2147483804" r:id="rId4"/>
    <p:sldLayoutId id="2147483805" r:id="rId5"/>
    <p:sldLayoutId id="2147483806" r:id="rId6"/>
    <p:sldLayoutId id="2147483807" r:id="rId7"/>
    <p:sldLayoutId id="2147483813" r:id="rId8"/>
    <p:sldLayoutId id="2147483814" r:id="rId9"/>
    <p:sldLayoutId id="2147483808" r:id="rId10"/>
    <p:sldLayoutId id="2147483809" r:id="rId11"/>
    <p:sldLayoutId id="2147483810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3"/>
          <p:cNvSpPr>
            <a:spLocks noGrp="1"/>
          </p:cNvSpPr>
          <p:nvPr>
            <p:ph type="title"/>
          </p:nvPr>
        </p:nvSpPr>
        <p:spPr>
          <a:xfrm>
            <a:off x="609600" y="14478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Data Mining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Core Ideas in Data Mining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2057400"/>
            <a:ext cx="7772400" cy="3962400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latin typeface="Franklin Gothic Book" pitchFamily="34" charset="0"/>
              </a:rPr>
              <a:t>Classification -  Classifying the outcome of categorical variable based on historical data</a:t>
            </a:r>
          </a:p>
          <a:p>
            <a:pPr eaLnBrk="1" hangingPunct="1"/>
            <a:r>
              <a:rPr lang="en-US" altLang="en-US" dirty="0" smtClean="0">
                <a:latin typeface="Franklin Gothic Book" pitchFamily="34" charset="0"/>
              </a:rPr>
              <a:t>Prediction – prediction of a given output variable (target variable) based on other variables or features</a:t>
            </a:r>
          </a:p>
          <a:p>
            <a:pPr eaLnBrk="1" hangingPunct="1"/>
            <a:r>
              <a:rPr lang="en-US" altLang="en-US" dirty="0" smtClean="0">
                <a:latin typeface="Franklin Gothic Book" pitchFamily="34" charset="0"/>
              </a:rPr>
              <a:t>Association Rules &amp; Recommenders</a:t>
            </a:r>
          </a:p>
          <a:p>
            <a:pPr eaLnBrk="1" hangingPunct="1"/>
            <a:r>
              <a:rPr lang="en-US" altLang="en-US" dirty="0" smtClean="0">
                <a:latin typeface="Franklin Gothic Book" pitchFamily="34" charset="0"/>
              </a:rPr>
              <a:t>Data &amp; Dimension Reduction</a:t>
            </a:r>
          </a:p>
          <a:p>
            <a:pPr eaLnBrk="1" hangingPunct="1"/>
            <a:r>
              <a:rPr lang="en-US" altLang="en-US" dirty="0" smtClean="0">
                <a:latin typeface="Franklin Gothic Book" pitchFamily="34" charset="0"/>
              </a:rPr>
              <a:t>Data Exploration</a:t>
            </a:r>
          </a:p>
          <a:p>
            <a:pPr eaLnBrk="1" hangingPunct="1"/>
            <a:r>
              <a:rPr lang="en-US" altLang="en-US" dirty="0" smtClean="0">
                <a:latin typeface="Franklin Gothic Book" pitchFamily="34" charset="0"/>
              </a:rPr>
              <a:t>Visualization</a:t>
            </a:r>
          </a:p>
          <a:p>
            <a:pPr eaLnBrk="1" hangingPunct="1"/>
            <a:endParaRPr lang="en-US" altLang="en-US" dirty="0" smtClean="0">
              <a:latin typeface="Franklin Gothic Book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Supervised Learning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828800"/>
            <a:ext cx="7772400" cy="4572000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latin typeface="Franklin Gothic Book" pitchFamily="34" charset="0"/>
              </a:rPr>
              <a:t>Predictive modeling describes supervised learning  - the training data we feed the algorithm includes the target variable.  We are “supervising” the training process </a:t>
            </a:r>
          </a:p>
          <a:p>
            <a:pPr eaLnBrk="1" hangingPunct="1"/>
            <a:endParaRPr lang="en-US" altLang="en-US" dirty="0" smtClean="0">
              <a:latin typeface="Franklin Gothic Book" pitchFamily="34" charset="0"/>
            </a:endParaRPr>
          </a:p>
          <a:p>
            <a:pPr eaLnBrk="1" hangingPunct="1"/>
            <a:r>
              <a:rPr lang="en-US" altLang="en-US" dirty="0" smtClean="0">
                <a:latin typeface="Franklin Gothic Book" pitchFamily="34" charset="0"/>
              </a:rPr>
              <a:t>Training data, where target value is known</a:t>
            </a:r>
          </a:p>
          <a:p>
            <a:pPr eaLnBrk="1" hangingPunct="1"/>
            <a:endParaRPr lang="en-US" altLang="en-US" dirty="0" smtClean="0">
              <a:latin typeface="Franklin Gothic Book" pitchFamily="34" charset="0"/>
            </a:endParaRPr>
          </a:p>
          <a:p>
            <a:pPr eaLnBrk="1" hangingPunct="1"/>
            <a:r>
              <a:rPr lang="en-US" altLang="en-US" dirty="0" smtClean="0">
                <a:latin typeface="Franklin Gothic Book" pitchFamily="34" charset="0"/>
              </a:rPr>
              <a:t>Score to data where value is not known</a:t>
            </a:r>
          </a:p>
          <a:p>
            <a:pPr eaLnBrk="1" hangingPunct="1"/>
            <a:endParaRPr lang="en-US" altLang="en-US" dirty="0" smtClean="0">
              <a:latin typeface="Franklin Gothic Book" pitchFamily="34" charset="0"/>
            </a:endParaRPr>
          </a:p>
          <a:p>
            <a:pPr eaLnBrk="1" hangingPunct="1"/>
            <a:r>
              <a:rPr lang="en-US" altLang="en-US" dirty="0" smtClean="0">
                <a:latin typeface="Franklin Gothic Book" pitchFamily="34" charset="0"/>
              </a:rPr>
              <a:t>Methods: Classification and Prediction</a:t>
            </a:r>
          </a:p>
          <a:p>
            <a:pPr eaLnBrk="1" hangingPunct="1"/>
            <a:endParaRPr lang="en-US" altLang="en-US" dirty="0" smtClean="0">
              <a:latin typeface="Franklin Gothic Book" pitchFamily="34" charset="0"/>
            </a:endParaRPr>
          </a:p>
          <a:p>
            <a:pPr eaLnBrk="1" hangingPunct="1">
              <a:buFont typeface="Wingdings 2" pitchFamily="18" charset="2"/>
              <a:buNone/>
            </a:pPr>
            <a:endParaRPr lang="en-US" altLang="en-US" dirty="0" smtClean="0">
              <a:latin typeface="Franklin Gothic Book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Supervised: Classification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7772400" cy="4038600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latin typeface="Franklin Gothic Book" pitchFamily="34" charset="0"/>
              </a:rPr>
              <a:t>The object of classification is to predict a categorical variable  </a:t>
            </a:r>
          </a:p>
          <a:p>
            <a:pPr eaLnBrk="1" hangingPunct="1"/>
            <a:r>
              <a:rPr lang="en-US" altLang="en-US" dirty="0" smtClean="0">
                <a:latin typeface="Franklin Gothic Book" pitchFamily="34" charset="0"/>
              </a:rPr>
              <a:t>Examples: Purchase/no purchase, fraud/no fraud, creditworthy/not creditworthy…</a:t>
            </a:r>
          </a:p>
          <a:p>
            <a:pPr eaLnBrk="1" hangingPunct="1"/>
            <a:r>
              <a:rPr lang="en-US" altLang="en-US" dirty="0" smtClean="0">
                <a:latin typeface="Franklin Gothic Book" pitchFamily="34" charset="0"/>
              </a:rPr>
              <a:t>Target variable is often binary (yes/no)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Supervised: Prediction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676400"/>
            <a:ext cx="7772400" cy="4572000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latin typeface="Franklin Gothic Book" pitchFamily="34" charset="0"/>
              </a:rPr>
              <a:t>Goal: Predict numerical target (outcome) variable </a:t>
            </a:r>
          </a:p>
          <a:p>
            <a:pPr eaLnBrk="1" hangingPunct="1"/>
            <a:r>
              <a:rPr lang="en-US" altLang="en-US" dirty="0" smtClean="0">
                <a:latin typeface="Franklin Gothic Book" pitchFamily="34" charset="0"/>
              </a:rPr>
              <a:t>Examples: sales, revenue, performance</a:t>
            </a:r>
          </a:p>
          <a:p>
            <a:pPr eaLnBrk="1" hangingPunct="1"/>
            <a:r>
              <a:rPr lang="en-US" altLang="en-US" dirty="0" smtClean="0">
                <a:latin typeface="Franklin Gothic Book" pitchFamily="34" charset="0"/>
              </a:rPr>
              <a:t>As in classification:</a:t>
            </a:r>
          </a:p>
          <a:p>
            <a:pPr lvl="1" eaLnBrk="1" hangingPunct="1"/>
            <a:r>
              <a:rPr lang="en-US" altLang="en-US" dirty="0" smtClean="0">
                <a:latin typeface="Franklin Gothic Book" pitchFamily="34" charset="0"/>
              </a:rPr>
              <a:t>Each row is a case (customer, tax return, applicant)</a:t>
            </a:r>
          </a:p>
          <a:p>
            <a:pPr lvl="1" eaLnBrk="1" hangingPunct="1"/>
            <a:r>
              <a:rPr lang="en-US" altLang="en-US" dirty="0" smtClean="0">
                <a:latin typeface="Franklin Gothic Book" pitchFamily="34" charset="0"/>
              </a:rPr>
              <a:t>Each column is a variable</a:t>
            </a:r>
          </a:p>
          <a:p>
            <a:pPr eaLnBrk="1" hangingPunct="1"/>
            <a:r>
              <a:rPr lang="en-US" altLang="en-US" dirty="0" smtClean="0">
                <a:latin typeface="Franklin Gothic Book" pitchFamily="34" charset="0"/>
              </a:rPr>
              <a:t>Taken together, classification and prediction constitute “predictive analytics”</a:t>
            </a:r>
          </a:p>
          <a:p>
            <a:pPr eaLnBrk="1" hangingPunct="1">
              <a:buFont typeface="Wingdings 2" pitchFamily="18" charset="2"/>
              <a:buNone/>
            </a:pPr>
            <a:endParaRPr lang="en-US" altLang="en-US" dirty="0" smtClean="0">
              <a:latin typeface="Franklin Gothic Book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Unsupervised Learning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2057400"/>
            <a:ext cx="7772400" cy="3962400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latin typeface="Franklin Gothic Book" pitchFamily="34" charset="0"/>
              </a:rPr>
              <a:t>Performs an analysis without a target variable</a:t>
            </a:r>
          </a:p>
          <a:p>
            <a:pPr eaLnBrk="1" hangingPunct="1"/>
            <a:r>
              <a:rPr lang="en-US" altLang="en-US" dirty="0" smtClean="0">
                <a:latin typeface="Franklin Gothic Book" pitchFamily="34" charset="0"/>
              </a:rPr>
              <a:t>Goal: Segment data into meaningful segments; detect patterns</a:t>
            </a:r>
          </a:p>
          <a:p>
            <a:pPr eaLnBrk="1" hangingPunct="1"/>
            <a:r>
              <a:rPr lang="en-US" altLang="en-US" dirty="0" smtClean="0">
                <a:latin typeface="Franklin Gothic Book" pitchFamily="34" charset="0"/>
              </a:rPr>
              <a:t>There is no target (outcome) variable to predict or classify</a:t>
            </a:r>
          </a:p>
          <a:p>
            <a:pPr eaLnBrk="1" hangingPunct="1"/>
            <a:r>
              <a:rPr lang="en-US" altLang="en-US" dirty="0" smtClean="0">
                <a:latin typeface="Franklin Gothic Book" pitchFamily="34" charset="0"/>
              </a:rPr>
              <a:t>Example:  Clustering – segments the observations into to similar groups based on the variables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Unsupervised: Association Rules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600200"/>
            <a:ext cx="8001000" cy="45720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Goal: Produce rules that define “what goes with what”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Example: “If X was purchased, Y was also purchased”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Rows are transactions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Used in recommender systems – “Our records show you bought X, you may also like Y”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Also called “affinity analysis”</a:t>
            </a:r>
          </a:p>
          <a:p>
            <a:pPr eaLnBrk="1" hangingPunct="1"/>
            <a:endParaRPr lang="en-US" altLang="en-US" smtClean="0">
              <a:latin typeface="Franklin Gothic Book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Unsupervised: Data Reduction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828800"/>
            <a:ext cx="7772400" cy="41910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Distillation of complex/large data into simpler/smaller data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Reducing the number of variables/columns (e.g., principal components)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Reducing the number of records/rows (e.g., clustering)</a:t>
            </a:r>
          </a:p>
          <a:p>
            <a:pPr eaLnBrk="1" hangingPunct="1"/>
            <a:endParaRPr lang="en-US" altLang="en-US" smtClean="0">
              <a:latin typeface="Franklin Gothic Book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Unsupervised: Data Visualization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828800"/>
            <a:ext cx="7772400" cy="41910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Graphs and plots of data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Histograms, boxplots, bar charts, scatterplots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Especially useful to examine relationships between pairs of variables</a:t>
            </a:r>
          </a:p>
          <a:p>
            <a:pPr eaLnBrk="1" hangingPunct="1"/>
            <a:endParaRPr lang="en-US" altLang="en-US" smtClean="0">
              <a:latin typeface="Franklin Gothic Book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Data Exploration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2057400"/>
            <a:ext cx="7772400" cy="39624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Data sets are typically large, complex &amp; messy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Need to review the data to help refine the task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Use techniques of Reduction and Visualization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mtClean="0"/>
              <a:t>The Process of Data Mining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Steps in Data Mining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676400"/>
            <a:ext cx="7772400" cy="4343400"/>
          </a:xfrm>
        </p:spPr>
        <p:txBody>
          <a:bodyPr/>
          <a:lstStyle/>
          <a:p>
            <a:pPr marL="514350" indent="-514350" eaLnBrk="1" hangingPunct="1">
              <a:lnSpc>
                <a:spcPct val="90000"/>
              </a:lnSpc>
              <a:buFont typeface="Franklin Gothic Book" pitchFamily="34" charset="0"/>
              <a:buAutoNum type="arabicPeriod"/>
            </a:pPr>
            <a:r>
              <a:rPr lang="en-US" altLang="en-US" dirty="0" smtClean="0">
                <a:latin typeface="Franklin Gothic Book" pitchFamily="34" charset="0"/>
              </a:rPr>
              <a:t>Define/understand purpose</a:t>
            </a:r>
          </a:p>
          <a:p>
            <a:pPr marL="514350" indent="-514350" eaLnBrk="1" hangingPunct="1">
              <a:lnSpc>
                <a:spcPct val="90000"/>
              </a:lnSpc>
              <a:buFont typeface="Franklin Gothic Book" pitchFamily="34" charset="0"/>
              <a:buAutoNum type="arabicPeriod"/>
            </a:pPr>
            <a:r>
              <a:rPr lang="en-US" altLang="en-US" dirty="0" smtClean="0">
                <a:latin typeface="Franklin Gothic Book" pitchFamily="34" charset="0"/>
              </a:rPr>
              <a:t>Obtain data (may involve random sampling)</a:t>
            </a:r>
          </a:p>
          <a:p>
            <a:pPr marL="514350" indent="-514350" eaLnBrk="1" hangingPunct="1">
              <a:lnSpc>
                <a:spcPct val="90000"/>
              </a:lnSpc>
              <a:buFont typeface="Franklin Gothic Book" pitchFamily="34" charset="0"/>
              <a:buAutoNum type="arabicPeriod"/>
            </a:pPr>
            <a:r>
              <a:rPr lang="en-US" altLang="en-US" dirty="0" smtClean="0">
                <a:latin typeface="Franklin Gothic Book" pitchFamily="34" charset="0"/>
              </a:rPr>
              <a:t>Explore, clean, pre-process data</a:t>
            </a:r>
          </a:p>
          <a:p>
            <a:pPr marL="514350" indent="-514350" eaLnBrk="1" hangingPunct="1">
              <a:lnSpc>
                <a:spcPct val="90000"/>
              </a:lnSpc>
              <a:buFont typeface="Franklin Gothic Book" pitchFamily="34" charset="0"/>
              <a:buAutoNum type="arabicPeriod"/>
            </a:pPr>
            <a:r>
              <a:rPr lang="en-US" altLang="en-US" dirty="0" smtClean="0">
                <a:latin typeface="Franklin Gothic Book" pitchFamily="34" charset="0"/>
              </a:rPr>
              <a:t>Reduce the data; if supervised DM, partition it</a:t>
            </a:r>
          </a:p>
          <a:p>
            <a:pPr marL="514350" indent="-514350" eaLnBrk="1" hangingPunct="1">
              <a:lnSpc>
                <a:spcPct val="90000"/>
              </a:lnSpc>
              <a:buFont typeface="Franklin Gothic Book" pitchFamily="34" charset="0"/>
              <a:buAutoNum type="arabicPeriod"/>
            </a:pPr>
            <a:r>
              <a:rPr lang="en-US" altLang="en-US" dirty="0" smtClean="0">
                <a:latin typeface="Franklin Gothic Book" pitchFamily="34" charset="0"/>
              </a:rPr>
              <a:t>Specify task (classification, clustering, etc.)</a:t>
            </a:r>
          </a:p>
          <a:p>
            <a:pPr marL="514350" indent="-514350" eaLnBrk="1" hangingPunct="1">
              <a:lnSpc>
                <a:spcPct val="90000"/>
              </a:lnSpc>
              <a:buFont typeface="Franklin Gothic Book" pitchFamily="34" charset="0"/>
              <a:buAutoNum type="arabicPeriod"/>
            </a:pPr>
            <a:r>
              <a:rPr lang="en-US" altLang="en-US" dirty="0" smtClean="0">
                <a:latin typeface="Franklin Gothic Book" pitchFamily="34" charset="0"/>
              </a:rPr>
              <a:t>Choose the techniques (regression, neural networks, etc.)</a:t>
            </a:r>
          </a:p>
          <a:p>
            <a:pPr marL="514350" indent="-514350" eaLnBrk="1" hangingPunct="1">
              <a:lnSpc>
                <a:spcPct val="90000"/>
              </a:lnSpc>
              <a:buFont typeface="Franklin Gothic Book" pitchFamily="34" charset="0"/>
              <a:buAutoNum type="arabicPeriod"/>
            </a:pPr>
            <a:r>
              <a:rPr lang="en-US" altLang="en-US" dirty="0" smtClean="0">
                <a:latin typeface="Franklin Gothic Book" pitchFamily="34" charset="0"/>
              </a:rPr>
              <a:t>Iterative implementation and “tuning” </a:t>
            </a:r>
          </a:p>
          <a:p>
            <a:pPr marL="514350" indent="-514350" eaLnBrk="1" hangingPunct="1">
              <a:lnSpc>
                <a:spcPct val="90000"/>
              </a:lnSpc>
              <a:buFont typeface="Franklin Gothic Book" pitchFamily="34" charset="0"/>
              <a:buAutoNum type="arabicPeriod"/>
            </a:pPr>
            <a:r>
              <a:rPr lang="en-US" altLang="en-US" dirty="0" smtClean="0">
                <a:latin typeface="Franklin Gothic Book" pitchFamily="34" charset="0"/>
              </a:rPr>
              <a:t>Assess results – compare models</a:t>
            </a:r>
          </a:p>
          <a:p>
            <a:pPr marL="514350" indent="-514350" eaLnBrk="1" hangingPunct="1">
              <a:lnSpc>
                <a:spcPct val="90000"/>
              </a:lnSpc>
              <a:buFont typeface="Franklin Gothic Book" pitchFamily="34" charset="0"/>
              <a:buAutoNum type="arabicPeriod"/>
            </a:pPr>
            <a:r>
              <a:rPr lang="en-US" altLang="en-US" dirty="0" smtClean="0">
                <a:latin typeface="Franklin Gothic Book" pitchFamily="34" charset="0"/>
              </a:rPr>
              <a:t>Deploy best model</a:t>
            </a:r>
          </a:p>
          <a:p>
            <a:pPr marL="514350" indent="-514350" eaLnBrk="1" hangingPunct="1">
              <a:lnSpc>
                <a:spcPct val="90000"/>
              </a:lnSpc>
              <a:buFont typeface="Franklin Gothic Book" pitchFamily="34" charset="0"/>
              <a:buAutoNum type="arabicPeriod"/>
            </a:pPr>
            <a:endParaRPr lang="en-US" altLang="en-US" dirty="0" smtClean="0">
              <a:latin typeface="Franklin Gothic Book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1650" y="1447800"/>
            <a:ext cx="221615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1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Test Partition	</a:t>
            </a:r>
          </a:p>
        </p:txBody>
      </p:sp>
      <p:sp>
        <p:nvSpPr>
          <p:cNvPr id="38916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447800"/>
            <a:ext cx="6248400" cy="52578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When a model is developed on </a:t>
            </a:r>
            <a:r>
              <a:rPr lang="en-US" altLang="en-US" b="1" smtClean="0">
                <a:latin typeface="Franklin Gothic Book" pitchFamily="34" charset="0"/>
              </a:rPr>
              <a:t>training data</a:t>
            </a:r>
            <a:r>
              <a:rPr lang="en-US" altLang="en-US" smtClean="0">
                <a:latin typeface="Franklin Gothic Book" pitchFamily="34" charset="0"/>
              </a:rPr>
              <a:t>, it can overfit the training data (hence need to assess on validation)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Assessing multiple models on same </a:t>
            </a:r>
            <a:r>
              <a:rPr lang="en-US" altLang="en-US" b="1" smtClean="0">
                <a:latin typeface="Franklin Gothic Book" pitchFamily="34" charset="0"/>
              </a:rPr>
              <a:t>validation data </a:t>
            </a:r>
            <a:r>
              <a:rPr lang="en-US" altLang="en-US" smtClean="0">
                <a:latin typeface="Franklin Gothic Book" pitchFamily="34" charset="0"/>
              </a:rPr>
              <a:t>can overfit validation data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Some methods use the validation data to choose a parameter. This too can lead to overfitting the validation data 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Solution: final selected model is applied to a </a:t>
            </a:r>
            <a:r>
              <a:rPr lang="en-US" altLang="en-US" b="1" u="sng" smtClean="0">
                <a:latin typeface="Franklin Gothic Book" pitchFamily="34" charset="0"/>
              </a:rPr>
              <a:t>test</a:t>
            </a:r>
            <a:r>
              <a:rPr lang="en-US" altLang="en-US" b="1" smtClean="0">
                <a:latin typeface="Franklin Gothic Book" pitchFamily="34" charset="0"/>
              </a:rPr>
              <a:t> partition </a:t>
            </a:r>
            <a:r>
              <a:rPr lang="en-US" altLang="en-US" smtClean="0">
                <a:latin typeface="Franklin Gothic Book" pitchFamily="34" charset="0"/>
              </a:rPr>
              <a:t>to give unbiased estimate of its performance on new data </a:t>
            </a:r>
          </a:p>
          <a:p>
            <a:pPr eaLnBrk="1" hangingPunct="1"/>
            <a:endParaRPr lang="en-US" altLang="en-US" smtClean="0">
              <a:latin typeface="Franklin Gothic Book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Splitting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8382000" cy="4572000"/>
          </a:xfrm>
        </p:spPr>
        <p:txBody>
          <a:bodyPr/>
          <a:lstStyle/>
          <a:p>
            <a:r>
              <a:rPr lang="en-US" dirty="0" smtClean="0"/>
              <a:t>Data are split into training and test sets. </a:t>
            </a:r>
          </a:p>
          <a:p>
            <a:r>
              <a:rPr lang="en-US" dirty="0" smtClean="0"/>
              <a:t>Training data is used to train the model</a:t>
            </a:r>
          </a:p>
          <a:p>
            <a:r>
              <a:rPr lang="en-US" dirty="0" smtClean="0"/>
              <a:t>Testing data is used to estimate an unbiased assessment of the model’s performance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#Random splitting of iris data </a:t>
            </a:r>
            <a:r>
              <a:rPr lang="en-US" dirty="0" smtClean="0"/>
              <a:t>into </a:t>
            </a:r>
            <a:r>
              <a:rPr lang="en-US" dirty="0"/>
              <a:t>70% train and 30%test datasets</a:t>
            </a:r>
          </a:p>
          <a:p>
            <a:pPr marL="0" indent="0">
              <a:buNone/>
            </a:pPr>
            <a:r>
              <a:rPr lang="en-US" dirty="0" err="1" smtClean="0"/>
              <a:t>ind</a:t>
            </a:r>
            <a:r>
              <a:rPr lang="en-US" dirty="0" smtClean="0"/>
              <a:t> </a:t>
            </a:r>
            <a:r>
              <a:rPr lang="en-US" dirty="0"/>
              <a:t>&lt;- sample(2, </a:t>
            </a:r>
            <a:r>
              <a:rPr lang="en-US" dirty="0" err="1" smtClean="0"/>
              <a:t>nrow</a:t>
            </a:r>
            <a:r>
              <a:rPr lang="en-US" dirty="0" smtClean="0"/>
              <a:t>(data), </a:t>
            </a:r>
            <a:r>
              <a:rPr lang="en-US" dirty="0"/>
              <a:t>replace=TRUE, </a:t>
            </a:r>
            <a:r>
              <a:rPr lang="en-US" dirty="0" err="1"/>
              <a:t>prob</a:t>
            </a:r>
            <a:r>
              <a:rPr lang="en-US" dirty="0"/>
              <a:t>=c(0.7, </a:t>
            </a:r>
            <a:r>
              <a:rPr lang="en-US" dirty="0" smtClean="0"/>
              <a:t>0.3))</a:t>
            </a:r>
            <a:endParaRPr lang="en-US" dirty="0"/>
          </a:p>
          <a:p>
            <a:pPr marL="0" indent="0">
              <a:buNone/>
            </a:pPr>
            <a:r>
              <a:rPr lang="en-US" dirty="0" err="1" smtClean="0"/>
              <a:t>trainData</a:t>
            </a:r>
            <a:r>
              <a:rPr lang="en-US" dirty="0" smtClean="0"/>
              <a:t> </a:t>
            </a:r>
            <a:r>
              <a:rPr lang="en-US" dirty="0"/>
              <a:t>&lt;- </a:t>
            </a:r>
            <a:r>
              <a:rPr lang="en-US" dirty="0" smtClean="0"/>
              <a:t>data[</a:t>
            </a:r>
            <a:r>
              <a:rPr lang="en-US" dirty="0" err="1" smtClean="0"/>
              <a:t>ind</a:t>
            </a:r>
            <a:r>
              <a:rPr lang="en-US" dirty="0"/>
              <a:t>==1,]</a:t>
            </a:r>
          </a:p>
          <a:p>
            <a:pPr marL="0" indent="0">
              <a:buNone/>
            </a:pPr>
            <a:r>
              <a:rPr lang="en-US" dirty="0" err="1" smtClean="0"/>
              <a:t>testData</a:t>
            </a:r>
            <a:r>
              <a:rPr lang="en-US" dirty="0" smtClean="0"/>
              <a:t> </a:t>
            </a:r>
            <a:r>
              <a:rPr lang="en-US" dirty="0"/>
              <a:t>&lt;- </a:t>
            </a:r>
            <a:r>
              <a:rPr lang="en-US" dirty="0" smtClean="0"/>
              <a:t>data[</a:t>
            </a:r>
            <a:r>
              <a:rPr lang="en-US" dirty="0" err="1" smtClean="0"/>
              <a:t>ind</a:t>
            </a:r>
            <a:r>
              <a:rPr lang="en-US" dirty="0"/>
              <a:t>==2,]</a:t>
            </a:r>
          </a:p>
        </p:txBody>
      </p:sp>
    </p:spTree>
    <p:extLst>
      <p:ext uri="{BB962C8B-B14F-4D97-AF65-F5344CB8AC3E}">
        <p14:creationId xmlns:p14="http://schemas.microsoft.com/office/powerpoint/2010/main" val="3753001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Simple Random Sampling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All observations have an equal chance of selection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# Using base </a:t>
            </a:r>
            <a:r>
              <a:rPr lang="en-US" dirty="0" smtClean="0"/>
              <a:t>R</a:t>
            </a:r>
          </a:p>
          <a:p>
            <a:pPr marL="0" indent="0">
              <a:buNone/>
            </a:pPr>
            <a:r>
              <a:rPr lang="en-US" dirty="0" err="1" smtClean="0"/>
              <a:t>set.seed</a:t>
            </a:r>
            <a:r>
              <a:rPr lang="en-US" dirty="0" smtClean="0"/>
              <a:t>(123</a:t>
            </a:r>
            <a:r>
              <a:rPr lang="en-US" dirty="0"/>
              <a:t>)  # for reproducibility</a:t>
            </a:r>
          </a:p>
          <a:p>
            <a:pPr marL="0" indent="0">
              <a:buNone/>
            </a:pPr>
            <a:r>
              <a:rPr lang="en-US" dirty="0"/>
              <a:t>index_1 &lt;- sample(1:nrow(</a:t>
            </a:r>
            <a:r>
              <a:rPr lang="en-US" dirty="0" err="1"/>
              <a:t>ames</a:t>
            </a:r>
            <a:r>
              <a:rPr lang="en-US" dirty="0"/>
              <a:t>), round(</a:t>
            </a:r>
            <a:r>
              <a:rPr lang="en-US" dirty="0" err="1"/>
              <a:t>nrow</a:t>
            </a:r>
            <a:r>
              <a:rPr lang="en-US" dirty="0"/>
              <a:t>(</a:t>
            </a:r>
            <a:r>
              <a:rPr lang="en-US" dirty="0" err="1"/>
              <a:t>ames</a:t>
            </a:r>
            <a:r>
              <a:rPr lang="en-US" dirty="0"/>
              <a:t>) * 0.7))</a:t>
            </a:r>
          </a:p>
          <a:p>
            <a:pPr marL="0" indent="0">
              <a:buNone/>
            </a:pPr>
            <a:r>
              <a:rPr lang="en-US" dirty="0"/>
              <a:t>train_1 &lt;- </a:t>
            </a:r>
            <a:r>
              <a:rPr lang="en-US" dirty="0" err="1"/>
              <a:t>ames</a:t>
            </a:r>
            <a:r>
              <a:rPr lang="en-US" dirty="0"/>
              <a:t>[index_1, ]</a:t>
            </a:r>
          </a:p>
          <a:p>
            <a:pPr marL="0" indent="0">
              <a:buNone/>
            </a:pPr>
            <a:r>
              <a:rPr lang="en-US" dirty="0"/>
              <a:t>test_1  &lt;- </a:t>
            </a:r>
            <a:r>
              <a:rPr lang="en-US" dirty="0" err="1"/>
              <a:t>ames</a:t>
            </a:r>
            <a:r>
              <a:rPr lang="en-US" dirty="0"/>
              <a:t>[-index_1, ]</a:t>
            </a:r>
          </a:p>
        </p:txBody>
      </p:sp>
    </p:spTree>
    <p:extLst>
      <p:ext uri="{BB962C8B-B14F-4D97-AF65-F5344CB8AC3E}">
        <p14:creationId xmlns:p14="http://schemas.microsoft.com/office/powerpoint/2010/main" val="2369367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Rare Event Oversampling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9050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Often the event of interest is rare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Examples: response to mailing, fraud in taxes, …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Sampling may yield too few “interesting” cases to effectively train a model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A popular solution: oversample the rare cases to obtain a more balanced training set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Later, need to adjust results for the oversampling</a:t>
            </a:r>
          </a:p>
          <a:p>
            <a:pPr eaLnBrk="1" hangingPunct="1">
              <a:buFont typeface="Wingdings 2" pitchFamily="18" charset="2"/>
              <a:buNone/>
            </a:pPr>
            <a:endParaRPr lang="en-US" altLang="en-US" smtClean="0">
              <a:latin typeface="Franklin Gothic Book" pitchFamily="34" charset="0"/>
            </a:endParaRPr>
          </a:p>
          <a:p>
            <a:pPr eaLnBrk="1" hangingPunct="1"/>
            <a:endParaRPr lang="en-US" altLang="en-US" smtClean="0">
              <a:latin typeface="Franklin Gothic Book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Stratified Sampling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05400"/>
          </a:xfrm>
        </p:spPr>
        <p:txBody>
          <a:bodyPr/>
          <a:lstStyle/>
          <a:p>
            <a:r>
              <a:rPr lang="en-US" dirty="0" smtClean="0"/>
              <a:t>Common in classification problems where the response variable may be severely imbalanced</a:t>
            </a:r>
          </a:p>
          <a:p>
            <a:r>
              <a:rPr lang="en-US" dirty="0" smtClean="0"/>
              <a:t>Example:  90% of the observations have a “yes” response and 10% have a “no” response. </a:t>
            </a:r>
          </a:p>
          <a:p>
            <a:r>
              <a:rPr lang="en-US" dirty="0" smtClean="0"/>
              <a:t>Solution: segment into quartiles and then random sample from each quartile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dirty="0" err="1" smtClean="0"/>
              <a:t>set.seed</a:t>
            </a:r>
            <a:r>
              <a:rPr lang="en-US" dirty="0" smtClean="0"/>
              <a:t>(123)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 err="1" smtClean="0"/>
              <a:t>split_strat</a:t>
            </a:r>
            <a:r>
              <a:rPr lang="en-US" dirty="0" smtClean="0"/>
              <a:t>  </a:t>
            </a:r>
            <a:r>
              <a:rPr lang="en-US" dirty="0"/>
              <a:t>&lt;- </a:t>
            </a:r>
            <a:r>
              <a:rPr lang="en-US" dirty="0" err="1"/>
              <a:t>initial_split</a:t>
            </a:r>
            <a:r>
              <a:rPr lang="en-US" dirty="0"/>
              <a:t>(attrition, prop = 0.7,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                       strata = "Attrition</a:t>
            </a:r>
            <a:r>
              <a:rPr lang="en-US" dirty="0" smtClean="0"/>
              <a:t>")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 err="1" smtClean="0"/>
              <a:t>train_strat</a:t>
            </a:r>
            <a:r>
              <a:rPr lang="en-US" dirty="0" smtClean="0"/>
              <a:t>  </a:t>
            </a:r>
            <a:r>
              <a:rPr lang="en-US" dirty="0"/>
              <a:t>&lt;- </a:t>
            </a:r>
            <a:r>
              <a:rPr lang="en-US" dirty="0" smtClean="0"/>
              <a:t>training(</a:t>
            </a:r>
            <a:r>
              <a:rPr lang="en-US" dirty="0" err="1" smtClean="0"/>
              <a:t>split_strat</a:t>
            </a:r>
            <a:r>
              <a:rPr lang="en-US" dirty="0" smtClean="0"/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 err="1" smtClean="0"/>
              <a:t>test_strat</a:t>
            </a:r>
            <a:r>
              <a:rPr lang="en-US" dirty="0" smtClean="0"/>
              <a:t>   </a:t>
            </a:r>
            <a:r>
              <a:rPr lang="en-US" dirty="0"/>
              <a:t>&lt;- testing(</a:t>
            </a:r>
            <a:r>
              <a:rPr lang="en-US" dirty="0" err="1"/>
              <a:t>split_strat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0752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10034</TotalTime>
  <Words>772</Words>
  <Application>Microsoft Office PowerPoint</Application>
  <PresentationFormat>On-screen Show (4:3)</PresentationFormat>
  <Paragraphs>113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Franklin Gothic Book</vt:lpstr>
      <vt:lpstr>Perpetua</vt:lpstr>
      <vt:lpstr>Wingdings 2</vt:lpstr>
      <vt:lpstr>Equity</vt:lpstr>
      <vt:lpstr>Data Mining Overview</vt:lpstr>
      <vt:lpstr>Core Ideas in Data Mining</vt:lpstr>
      <vt:lpstr>Supervised Learning</vt:lpstr>
      <vt:lpstr>Supervised: Classification</vt:lpstr>
      <vt:lpstr>Supervised: Prediction</vt:lpstr>
      <vt:lpstr>Unsupervised Learning</vt:lpstr>
      <vt:lpstr>Unsupervised: Association Rules</vt:lpstr>
      <vt:lpstr>Unsupervised: Data Reduction</vt:lpstr>
      <vt:lpstr>Unsupervised: Data Visualization</vt:lpstr>
      <vt:lpstr>Data Exploration</vt:lpstr>
      <vt:lpstr>The Process of Data Mining</vt:lpstr>
      <vt:lpstr>Steps in Data Mining</vt:lpstr>
      <vt:lpstr>Test Partition </vt:lpstr>
      <vt:lpstr>Data Splitting </vt:lpstr>
      <vt:lpstr>Simple Random Sampling </vt:lpstr>
      <vt:lpstr>Rare Event Oversampling</vt:lpstr>
      <vt:lpstr>Stratified Sampling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</dc:title>
  <dc:creator>P Bruce</dc:creator>
  <cp:lastModifiedBy>USER</cp:lastModifiedBy>
  <cp:revision>88</cp:revision>
  <dcterms:created xsi:type="dcterms:W3CDTF">2008-10-07T18:49:19Z</dcterms:created>
  <dcterms:modified xsi:type="dcterms:W3CDTF">2021-09-01T20:51:31Z</dcterms:modified>
</cp:coreProperties>
</file>