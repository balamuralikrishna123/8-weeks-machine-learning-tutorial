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86" r:id="rId2"/>
    <p:sldId id="257" r:id="rId3"/>
    <p:sldId id="258" r:id="rId4"/>
    <p:sldId id="267" r:id="rId5"/>
    <p:sldId id="259" r:id="rId6"/>
    <p:sldId id="262" r:id="rId7"/>
    <p:sldId id="263" r:id="rId8"/>
    <p:sldId id="264" r:id="rId9"/>
    <p:sldId id="275" r:id="rId10"/>
    <p:sldId id="273" r:id="rId11"/>
    <p:sldId id="274" r:id="rId12"/>
    <p:sldId id="285" r:id="rId13"/>
    <p:sldId id="284" r:id="rId14"/>
    <p:sldId id="268" r:id="rId15"/>
    <p:sldId id="269" r:id="rId16"/>
    <p:sldId id="270" r:id="rId17"/>
    <p:sldId id="271" r:id="rId18"/>
    <p:sldId id="265" r:id="rId19"/>
    <p:sldId id="277" r:id="rId20"/>
    <p:sldId id="278" r:id="rId21"/>
    <p:sldId id="279" r:id="rId22"/>
    <p:sldId id="280" r:id="rId23"/>
    <p:sldId id="282" r:id="rId24"/>
    <p:sldId id="281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Stats\XLMinerHelp\CasebookMainFiles\TeX_files_1105\Images\CH2-XYPlots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6122465045504891"/>
          <c:y val="6.6157925209539031E-2"/>
          <c:w val="0.777551795232578"/>
          <c:h val="0.75827160432471974"/>
        </c:manualLayout>
      </c:layout>
      <c:scatterChart>
        <c:scatterStyle val="smoothMarker"/>
        <c:varyColors val="0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Sheet1!$A$1:$A$7</c:f>
              <c:numCache>
                <c:formatCode>General</c:formatCode>
                <c:ptCount val="7"/>
                <c:pt idx="0">
                  <c:v>239</c:v>
                </c:pt>
                <c:pt idx="1">
                  <c:v>364</c:v>
                </c:pt>
                <c:pt idx="2">
                  <c:v>602</c:v>
                </c:pt>
                <c:pt idx="3">
                  <c:v>644</c:v>
                </c:pt>
                <c:pt idx="4">
                  <c:v>770</c:v>
                </c:pt>
                <c:pt idx="5">
                  <c:v>789</c:v>
                </c:pt>
                <c:pt idx="6">
                  <c:v>911</c:v>
                </c:pt>
              </c:numCache>
            </c:numRef>
          </c:xVal>
          <c:yVal>
            <c:numRef>
              <c:f>Sheet1!$B$1:$B$7</c:f>
              <c:numCache>
                <c:formatCode>General</c:formatCode>
                <c:ptCount val="7"/>
                <c:pt idx="0">
                  <c:v>514</c:v>
                </c:pt>
                <c:pt idx="1">
                  <c:v>789</c:v>
                </c:pt>
                <c:pt idx="2">
                  <c:v>550</c:v>
                </c:pt>
                <c:pt idx="3">
                  <c:v>1386</c:v>
                </c:pt>
                <c:pt idx="4">
                  <c:v>1394</c:v>
                </c:pt>
                <c:pt idx="5">
                  <c:v>1440</c:v>
                </c:pt>
                <c:pt idx="6">
                  <c:v>1354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BA1-4552-96DB-01A4187E3F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8266064"/>
        <c:axId val="258266624"/>
      </c:scatterChart>
      <c:valAx>
        <c:axId val="2582660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Expenditure</a:t>
                </a:r>
              </a:p>
            </c:rich>
          </c:tx>
          <c:layout>
            <c:manualLayout>
              <c:xMode val="edge"/>
              <c:yMode val="edge"/>
              <c:x val="0.46734740448362211"/>
              <c:y val="0.9033101326687066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58266624"/>
        <c:crosses val="autoZero"/>
        <c:crossBetween val="midCat"/>
      </c:valAx>
      <c:valAx>
        <c:axId val="25826662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Revenue</a:t>
                </a:r>
              </a:p>
            </c:rich>
          </c:tx>
          <c:layout>
            <c:manualLayout>
              <c:xMode val="edge"/>
              <c:yMode val="edge"/>
              <c:x val="3.2653093763047945E-2"/>
              <c:y val="0.3689576598224303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58266064"/>
        <c:crosses val="autoZero"/>
        <c:crossBetween val="midCat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A7874-91C4-4595-8FE6-FDF137E780C5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386F3-0398-4ECC-8611-F8D3DDC9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2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D32DF46-856D-4533-8487-5A2708D0964C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257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8F91BFC-CD8E-455B-A43F-C81669ED0661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B1C0339-2423-437D-B451-29CCFFF58C16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028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C6049F0-3A1B-45BA-AF3F-F5F1EE54E34F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23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189D838-71A1-4615-8F96-C31ABAB85E01}" type="slidenum">
              <a:rPr lang="en-US" altLang="en-US" sz="1200">
                <a:solidFill>
                  <a:prstClr val="black"/>
                </a:solidFill>
                <a:latin typeface="Arial" charset="0"/>
                <a:cs typeface="Arial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91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D338F2CF-F941-4458-88EA-D525D13A94C6}" type="slidenum">
              <a:rPr lang="en-US" altLang="en-US" sz="1200">
                <a:solidFill>
                  <a:prstClr val="black"/>
                </a:solidFill>
                <a:latin typeface="Arial" charset="0"/>
                <a:cs typeface="Arial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651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E497BC40-C00B-41CB-8BD8-B77212BF75DE}" type="slidenum">
              <a:rPr lang="en-US" altLang="en-US" sz="1200">
                <a:solidFill>
                  <a:prstClr val="black"/>
                </a:solidFill>
                <a:latin typeface="Arial" charset="0"/>
                <a:cs typeface="Arial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96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D5B986A-9084-4721-AD9B-1B0FA6645B78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014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5" name="Rounded Rectangle 4"/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F8F9A-6B9C-4E99-A672-AA22494AC827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6C8228-8E3D-47B4-9F2F-4DFD1683B7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86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B7CE3-98A8-44D5-97E5-518A21F75621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32A48-17A9-4882-998A-9ED17B95E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8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5" name="Rounded Rectangle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5CB7E-CA62-4728-9A01-E4C077EDB16C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0AE4-B6E7-49A2-842A-93E266E87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04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5EC6D-69CF-4B50-8DD2-755FB0A87272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F50A3-077B-40C7-8B7E-79D4A02C6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EC02D-2D74-4675-AE58-6EA7616DA41A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C5DC6-0AE3-43DB-BABD-7BB5792B88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4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76C86-FDB5-49B3-81C9-7F1E7740B715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071CF-07B6-4068-B301-CCA93B572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4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B99C1-E074-4312-A4FB-54633EB37A66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7ABAE-5DFD-4654-A34A-BF977A0C0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4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6" name="Rounded Rectangle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40A97-526F-4C11-AAA7-3EA03338936B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08FFC-EB67-4A7A-8EBD-EF81F1F68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5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96CDF-B34A-4A0F-A35A-AE968AC36E54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1F9DF-8103-4ADE-8F25-4A16D6EF88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6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DFAE8-BBF0-417D-AA10-2919B6E99BD4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6D68C-F9C0-4CA0-8052-8D5E38C495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25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46EDF-5A8D-479C-AC59-E0526DE12ADB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0508F-1B81-4EC0-93A6-1A3FE4877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4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63335-4D21-470B-BED0-FABBD057111B}" type="datetimeFigureOut">
              <a:rPr lang="en-US">
                <a:solidFill>
                  <a:srgbClr val="696464"/>
                </a:solidFill>
              </a:rPr>
              <a:pPr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95D13-DB23-4D94-8613-9A6BA2DDD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9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64C0EF-C16E-4BDC-AE2F-623E38AA30B2}" type="datetimeFigureOut">
              <a:rPr lang="en-US">
                <a:solidFill>
                  <a:srgbClr val="696464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1/8/2023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545526-4F4B-44FF-8542-E0A2891DEDB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53717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Variables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sz="2800">
                <a:latin typeface="Franklin Gothic Book" pitchFamily="34" charset="0"/>
              </a:rPr>
              <a:t>Determine the types of pre-processing needed, and algorithms used</a:t>
            </a:r>
          </a:p>
          <a:p>
            <a:pPr eaLnBrk="1" hangingPunct="1"/>
            <a:r>
              <a:rPr lang="en-US" altLang="en-US" sz="2800">
                <a:latin typeface="Franklin Gothic Book" pitchFamily="34" charset="0"/>
              </a:rPr>
              <a:t>Main distinction: Categorical vs. numeric</a:t>
            </a:r>
          </a:p>
          <a:p>
            <a:pPr eaLnBrk="1" hangingPunct="1"/>
            <a:r>
              <a:rPr lang="en-US" altLang="en-US">
                <a:latin typeface="Franklin Gothic Book" pitchFamily="34" charset="0"/>
              </a:rPr>
              <a:t>Numeric</a:t>
            </a:r>
          </a:p>
          <a:p>
            <a:pPr lvl="1" eaLnBrk="1" hangingPunct="1"/>
            <a:r>
              <a:rPr lang="en-US" altLang="en-US">
                <a:latin typeface="Franklin Gothic Book" pitchFamily="34" charset="0"/>
              </a:rPr>
              <a:t>Continuous</a:t>
            </a:r>
          </a:p>
          <a:p>
            <a:pPr lvl="1" eaLnBrk="1" hangingPunct="1"/>
            <a:r>
              <a:rPr lang="en-US" altLang="en-US">
                <a:latin typeface="Franklin Gothic Book" pitchFamily="34" charset="0"/>
              </a:rPr>
              <a:t>Integer</a:t>
            </a:r>
          </a:p>
          <a:p>
            <a:pPr eaLnBrk="1" hangingPunct="1"/>
            <a:r>
              <a:rPr lang="en-US" altLang="en-US" sz="2800">
                <a:latin typeface="Franklin Gothic Book" pitchFamily="34" charset="0"/>
              </a:rPr>
              <a:t>Categorical</a:t>
            </a:r>
          </a:p>
          <a:p>
            <a:pPr lvl="1" eaLnBrk="1" hangingPunct="1"/>
            <a:r>
              <a:rPr lang="en-US" altLang="en-US">
                <a:latin typeface="Franklin Gothic Book" pitchFamily="34" charset="0"/>
              </a:rPr>
              <a:t>Ordered (low, medium, high)</a:t>
            </a:r>
          </a:p>
          <a:p>
            <a:pPr lvl="1" eaLnBrk="1" hangingPunct="1"/>
            <a:r>
              <a:rPr lang="en-US" altLang="en-US">
                <a:latin typeface="Franklin Gothic Book" pitchFamily="34" charset="0"/>
              </a:rPr>
              <a:t>Unordered (male, female)</a:t>
            </a:r>
          </a:p>
        </p:txBody>
      </p:sp>
    </p:spTree>
    <p:extLst>
      <p:ext uri="{BB962C8B-B14F-4D97-AF65-F5344CB8AC3E}">
        <p14:creationId xmlns:p14="http://schemas.microsoft.com/office/powerpoint/2010/main" val="167031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 handling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itchFamily="34" charset="0"/>
              </a:rPr>
              <a:t>Numeric</a:t>
            </a:r>
          </a:p>
          <a:p>
            <a:pPr lvl="1" eaLnBrk="1" hangingPunct="1"/>
            <a:r>
              <a:rPr lang="en-US" altLang="en-US" dirty="0">
                <a:latin typeface="Franklin Gothic Book" pitchFamily="34" charset="0"/>
              </a:rPr>
              <a:t>Most algorithms can handle numeric data</a:t>
            </a:r>
          </a:p>
          <a:p>
            <a:pPr lvl="1" eaLnBrk="1" hangingPunct="1"/>
            <a:r>
              <a:rPr lang="en-US" altLang="en-US" dirty="0">
                <a:latin typeface="Franklin Gothic Book" pitchFamily="34" charset="0"/>
              </a:rPr>
              <a:t>May occasionally need to “bin” into categories</a:t>
            </a:r>
          </a:p>
          <a:p>
            <a:pPr eaLnBrk="1" hangingPunct="1"/>
            <a:endParaRPr lang="en-US" altLang="en-US" dirty="0">
              <a:latin typeface="Franklin Gothic Book" pitchFamily="34" charset="0"/>
            </a:endParaRP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Categorical</a:t>
            </a:r>
          </a:p>
          <a:p>
            <a:pPr lvl="1" eaLnBrk="1" hangingPunct="1"/>
            <a:r>
              <a:rPr lang="en-US" altLang="en-US" dirty="0">
                <a:latin typeface="Franklin Gothic Book" pitchFamily="34" charset="0"/>
              </a:rPr>
              <a:t>Naïve Bayes can use as-is</a:t>
            </a:r>
          </a:p>
          <a:p>
            <a:pPr lvl="1" eaLnBrk="1" hangingPunct="1"/>
            <a:r>
              <a:rPr lang="en-US" altLang="en-US" dirty="0">
                <a:latin typeface="Franklin Gothic Book" pitchFamily="34" charset="0"/>
              </a:rPr>
              <a:t>In many algorithms we must create binary dummies (number of dummies = number of categories – 1)</a:t>
            </a:r>
          </a:p>
        </p:txBody>
      </p:sp>
    </p:spTree>
    <p:extLst>
      <p:ext uri="{BB962C8B-B14F-4D97-AF65-F5344CB8AC3E}">
        <p14:creationId xmlns:p14="http://schemas.microsoft.com/office/powerpoint/2010/main" val="219465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Normalizing (Standardizing) Data	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600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itchFamily="34" charset="0"/>
              </a:rPr>
              <a:t>Used in some techniques when variables with the largest scales would dominate and skew results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Puts all variables on same scale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Normalizing function: Subtract mean and divide by standard deviation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Alternative function: scale to 0-1 by subtracting minimum and dividing by the range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itchFamily="34" charset="0"/>
              </a:rPr>
              <a:t>Useful when the data contain dummies and numeric</a:t>
            </a:r>
            <a:br>
              <a:rPr lang="en-US" altLang="en-US" sz="2200" dirty="0">
                <a:latin typeface="Franklin Gothic Book" pitchFamily="34" charset="0"/>
              </a:rPr>
            </a:br>
            <a:endParaRPr lang="en-US" altLang="en-US" sz="2200" dirty="0"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7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196898" y="-423746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Detecting Outliers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2124307" y="719253"/>
            <a:ext cx="7772400" cy="5525429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itchFamily="34" charset="0"/>
              </a:rPr>
              <a:t>An outlier is an observation that is “extreme”, being distant from the rest of the data (definition of “distant” is deliberately vague)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Outliers can have disproportionate influence on models (a problem if it is spurious)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An important step in data pre-processing is detecting outliers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Once detected, domain knowledge is required to determine if it is an error, or truly extreme.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In some contexts, finding outliers is the purpose of the DM exercise (airport security screening). This is called “anomaly detection”. </a:t>
            </a:r>
          </a:p>
          <a:p>
            <a:pPr eaLnBrk="1" hangingPunct="1"/>
            <a:endParaRPr lang="en-US" altLang="en-US" dirty="0"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31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The Problem of Overfitting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438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itchFamily="34" charset="0"/>
              </a:rPr>
              <a:t>Statistical models can produce highly complex explanations of relationships between variables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The objective is to fit a line (a curve) to the training data that can be used to make predictions or classifications on new data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The “fit” may be excellent on the training data</a:t>
            </a:r>
          </a:p>
          <a:p>
            <a:pPr eaLnBrk="1" hangingPunct="1"/>
            <a:r>
              <a:rPr lang="en-US" altLang="en-US" dirty="0">
                <a:latin typeface="Franklin Gothic Book" pitchFamily="34" charset="0"/>
              </a:rPr>
              <a:t>But when the model is used with </a:t>
            </a:r>
            <a:r>
              <a:rPr lang="en-US" altLang="en-US" u="sng" dirty="0">
                <a:latin typeface="Franklin Gothic Book" pitchFamily="34" charset="0"/>
              </a:rPr>
              <a:t>new</a:t>
            </a:r>
            <a:r>
              <a:rPr lang="en-US" altLang="en-US" dirty="0">
                <a:latin typeface="Franklin Gothic Book" pitchFamily="34" charset="0"/>
              </a:rPr>
              <a:t> data, models of great complexity do not do so well.</a:t>
            </a:r>
          </a:p>
        </p:txBody>
      </p:sp>
    </p:spTree>
    <p:extLst>
      <p:ext uri="{BB962C8B-B14F-4D97-AF65-F5344CB8AC3E}">
        <p14:creationId xmlns:p14="http://schemas.microsoft.com/office/powerpoint/2010/main" val="402228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100% fit – not useful for </a:t>
            </a:r>
            <a:r>
              <a:rPr lang="en-US" altLang="en-US" u="sng"/>
              <a:t>new</a:t>
            </a:r>
            <a:r>
              <a:rPr lang="en-US" altLang="en-US"/>
              <a:t> data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4294967295"/>
          </p:nvPr>
        </p:nvGraphicFramePr>
        <p:xfrm>
          <a:off x="2438400" y="1447800"/>
          <a:ext cx="7772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3192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Overfitting</a:t>
            </a:r>
            <a:r>
              <a:rPr lang="en-US" altLang="en-US" dirty="0"/>
              <a:t> 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438400" y="1828800"/>
            <a:ext cx="7772400" cy="4191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>
                <a:latin typeface="Franklin Gothic Book" pitchFamily="34" charset="0"/>
              </a:rPr>
              <a:t>Causes:</a:t>
            </a:r>
          </a:p>
          <a:p>
            <a:pPr marL="742950" lvl="1" indent="-285750" eaLnBrk="1" hangingPunct="1">
              <a:defRPr/>
            </a:pPr>
            <a:r>
              <a:rPr lang="en-US" sz="2200" dirty="0">
                <a:latin typeface="Franklin Gothic Book" pitchFamily="34" charset="0"/>
              </a:rPr>
              <a:t>Too many predictors</a:t>
            </a:r>
          </a:p>
          <a:p>
            <a:pPr marL="742950" lvl="1" indent="-285750" eaLnBrk="1" hangingPunct="1">
              <a:defRPr/>
            </a:pPr>
            <a:r>
              <a:rPr lang="en-US" sz="2200" dirty="0">
                <a:latin typeface="Franklin Gothic Book" pitchFamily="34" charset="0"/>
              </a:rPr>
              <a:t>A model with too many parameters </a:t>
            </a:r>
          </a:p>
          <a:p>
            <a:pPr marL="742950" lvl="1" indent="-285750" eaLnBrk="1" hangingPunct="1">
              <a:defRPr/>
            </a:pPr>
            <a:endParaRPr lang="en-US" sz="2200" dirty="0">
              <a:latin typeface="Franklin Gothic Book" pitchFamily="34" charset="0"/>
            </a:endParaRPr>
          </a:p>
          <a:p>
            <a:pPr eaLnBrk="1" hangingPunct="1">
              <a:defRPr/>
            </a:pPr>
            <a:endParaRPr lang="en-US" dirty="0">
              <a:latin typeface="Franklin Gothic Book" pitchFamily="34" charset="0"/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latin typeface="Franklin Gothic Book" pitchFamily="34" charset="0"/>
              </a:rPr>
              <a:t>Consequence:  Deployed model will not work as well as expected with completely new data.</a:t>
            </a:r>
          </a:p>
        </p:txBody>
      </p:sp>
    </p:spTree>
    <p:extLst>
      <p:ext uri="{BB962C8B-B14F-4D97-AF65-F5344CB8AC3E}">
        <p14:creationId xmlns:p14="http://schemas.microsoft.com/office/powerpoint/2010/main" val="120230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95" y="1262130"/>
            <a:ext cx="10473555" cy="406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9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Bias is the difference between the average prediction of our model and the correct value which we are trying to predict.</a:t>
            </a:r>
          </a:p>
          <a:p>
            <a:r>
              <a:rPr lang="en-US" dirty="0"/>
              <a:t>Measures how far off we are from the correct value and the prediction</a:t>
            </a:r>
          </a:p>
          <a:p>
            <a:r>
              <a:rPr lang="en-US" dirty="0"/>
              <a:t> Models with high bias pays very little attention to the training data and oversimplifies the model. </a:t>
            </a:r>
          </a:p>
          <a:p>
            <a:r>
              <a:rPr lang="en-US" dirty="0"/>
              <a:t>Leads to high error in training and test data.</a:t>
            </a:r>
          </a:p>
        </p:txBody>
      </p:sp>
    </p:spTree>
    <p:extLst>
      <p:ext uri="{BB962C8B-B14F-4D97-AF65-F5344CB8AC3E}">
        <p14:creationId xmlns:p14="http://schemas.microsoft.com/office/powerpoint/2010/main" val="3771126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Variance is the variability of model prediction for a given data point or a value </a:t>
            </a:r>
          </a:p>
          <a:p>
            <a:r>
              <a:rPr lang="en-US" dirty="0"/>
              <a:t>Tells the us spread of our data. </a:t>
            </a:r>
          </a:p>
          <a:p>
            <a:r>
              <a:rPr lang="en-US" dirty="0"/>
              <a:t>Model with high variance puts a lot of attention into the training data </a:t>
            </a:r>
          </a:p>
          <a:p>
            <a:r>
              <a:rPr lang="en-US" dirty="0"/>
              <a:t>But does not generalize well to new data</a:t>
            </a:r>
          </a:p>
          <a:p>
            <a:r>
              <a:rPr lang="en-US" dirty="0"/>
              <a:t>These models perform very well on training data but has high error rates on test data.</a:t>
            </a:r>
          </a:p>
        </p:txBody>
      </p:sp>
    </p:spTree>
    <p:extLst>
      <p:ext uri="{BB962C8B-B14F-4D97-AF65-F5344CB8AC3E}">
        <p14:creationId xmlns:p14="http://schemas.microsoft.com/office/powerpoint/2010/main" val="1179064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133600"/>
            <a:ext cx="6667500" cy="259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62250" y="4326673"/>
            <a:ext cx="82997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There is often a tradeoff  between a model’s ability to minimize variance and minimize bias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717854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Data Science Interview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891" y="579862"/>
            <a:ext cx="4401015" cy="330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18732" y="4452124"/>
            <a:ext cx="81849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there is low bias and low variance, the predicted output is mostly close to the desired output.</a:t>
            </a:r>
          </a:p>
          <a:p>
            <a:r>
              <a:rPr lang="en-US" dirty="0"/>
              <a:t>If there is low bias and high variance, the model is not consistent.</a:t>
            </a:r>
          </a:p>
          <a:p>
            <a:r>
              <a:rPr lang="en-US" dirty="0"/>
              <a:t>If there is low variance and high bias, the model is consistent but predicted results are far away from the actual output.</a:t>
            </a:r>
          </a:p>
          <a:p>
            <a:r>
              <a:rPr lang="en-US" dirty="0"/>
              <a:t>If there is high bias and high variance, then the model is inconsistent, and also predictions are much different with actual value. It is the worst case of bias and variance.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9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Resampling Methods:  K-fold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K-fold cross validation –randomly divide the training data into k groups of relatively equal size. </a:t>
            </a:r>
          </a:p>
          <a:p>
            <a:r>
              <a:rPr lang="en-US" dirty="0"/>
              <a:t>Fit the model to k-1 groups and then the remaining group is used for validation  - to evaluate model performance</a:t>
            </a:r>
          </a:p>
          <a:p>
            <a:r>
              <a:rPr lang="en-US" dirty="0"/>
              <a:t>This is repeated k times, each time with a different group as the validation set. </a:t>
            </a:r>
          </a:p>
          <a:p>
            <a:r>
              <a:rPr lang="en-US" dirty="0"/>
              <a:t>Example: 10 fold cross validation </a:t>
            </a:r>
          </a:p>
        </p:txBody>
      </p:sp>
    </p:spTree>
    <p:extLst>
      <p:ext uri="{BB962C8B-B14F-4D97-AF65-F5344CB8AC3E}">
        <p14:creationId xmlns:p14="http://schemas.microsoft.com/office/powerpoint/2010/main" val="193020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ZcAAAI/CAYAAAALGOeRAAAABHNCSVQICAgIfAhkiAAAIABJREFUeJzs3XlwHOl55/lfZp1AAYWbAEGAN5p3H1SrJUqtVrekljxWz1haRUvesSfmkhwxtkfhXU3semZnd0Ib9kbYM1pbtqSRPR5Pe2XNSur1yDqsa9y+dDZb3WyyeTXZJAACJHESdxXqyMz9I8kCiigAlYUq1PX9RCBQzMx686niw2K+T735vhIAAAAAAAAAAB4Z5Q4AgHff+ta3+kKh0Klyx4HaYtv2yNNPP/2TfI4lB1EKXnJQIg9RGuQhKgH/J6PcvH4WAgDql7/cAQDwLhQKnTJN8yvljgO1xTTN5yV9OJ9jyUGUgpcclMhDlAZ5iErA/8koN6+fhQCA+mWWOwAAAAAAAAAAQPWhuAwAAAAAAAAA8IziMgAAAAAAAADAM4rLAAAAAAAAAADPKC4DAAAAAAAAADyjuAwAAAAAAAAA8IziMgAAAAAAAADAM4rLAAAAAAAAAADPKC4DAAAAAAAAADyjuAwAAAAAAAAA8IziMgAAAAAAAADAM4rLAAAAAAAAAADPKC4DAAAAAAAAADyjuAwAAAAAAAAA8IziMgAAAAAAAADAM4rLAAAAAAAAAADPKC4DAAAAAAAAADyjuAwAAAAAAAAA8IziMgAAAAAAAADAM4rLAAAAAAAAAADPKC4DAAAAAAAAADyjuAwAAAAAAAAA8IziMgAAAAAAAADAM3+5AwCArfD7/Tp+/LgCgYDm5+f1+uuvb7nNgwcPqqmpSclkUq+//rosyypCpKhl5CHKjRxEJSAPUQnIQwAAthfFZQBVLRgMqrW1VZLbmSiG7u5uBQIBSdLg4KDi8XhR2pUkn8+nUCgky7KUSCSK1i7Kqxry0DAMRSIRBYNBGYahpaUlLS8vFyNUVIBqyEHTNNXY2KhQKCRJisfjisfjchxny7GiMlRDHuYSCARkmqbS6TRFwxpQrXkIAEC1orgMwJO+vj7t379fppnfrDoTExO6ePFiiaOqDn19fdq3b598Pp8k6fTp04rFYmWOqjqRh/lrbW3Vrl271NbWtqaTbVmWpqamdO3aNSWTyTJFWJ3Iwfx1dHSot7dXbW1ta94vx3EyOciXHd6Rh1sTCAR08uRJNTQ0ZLaNjY3p8uXLZYyq+pCH+RkYGFBvb68Mw8jr+MuXL2tsbKzEUQEAsHUUlwF4smPHjrw7D5IUDodLGE11iEQiOnTokKLRaNZ2L+8jspGHm/P5fDpy5Ig6Ozs3PKa7u1sdHR26dOmSpqentzHC6kYObs7n8+nYsWNqb29f9xjDMNTV1aWOjg5duHCBHPSIPNya/fv3ZxWWJd6jQpCH+ens7My7sCzV7/sEAKg+FJcBeLL6onhxcXHTkWYzMzOlDqlimaapPXv2qL+/n0JykZGHm9uxY0dWYXlhYUGLi4tKJBIKh8Nqb29XMBiU5N42fOjQIb300ktKpVLlCrmqkIOb6+zszBSWLcvS5OSkFhYWMjnY0dGhtrY2Se7nJTnoHXlYuGg0qp6eHkluft67qwjekYfe2LathYWFDY9xHIcv2wAAVYPiMoCCjY6OcrveOpqbm3XkyBE1NjZKcjuuw8PD2r9/f5kjqz3k4camp6c1ODioxcXFrO1+v19HjhxRR0eHJHeOyr179+rq1avlCLOqkYO5maYp27Y1OjqqGzduKJ1OZ+0fHR3Vnj17tG/fPkluDvb29mp4eLgc4VY98tCbgYEBGYYh27Z148aNTB5ia8jDzSWTSZ05c6bcYQAAUDQUlwGgBPbt25cpLE9MTOjatWtKJBIUl7Ftpqendfbs2XVHiKXTaV2+fFmPPfZYZpGi+6duAbZicnJSMzMzG45iHB4eVk9PT2Zqgkgksl3hoY7t3LlTzc3NktxiKIuzAQAAFI7iMgCUyNLSkt544426v/0T5ZFMJjddpC+VSml2dlZdXV2SKOyhuNLp9JrRyrnMz89nisv3z38LFJvf78+MUk4kEhoeHs7cwQEAAADvKC4DKKvW1la1trYqEomoqalJfr9fsVhMS0tLWlxc1NjYmGzbLtr5QqGQuru71dzcrGg0Ktu2NTc3p5mZGY2PjxftPBcvXsyrqILKUKt5mI9EIpF57GWhIRRXPefg6jnpN/tCBKVVD3m4b9++zHzz165dk2VZJTkPClcPeQgAQC2huAygLEzT1MDAgHbu3LlmX0tLi1paWiRJu3bt0qVLl9bMF1uIaDSq48ePZzqV9zQ0NKinp0ddXV26dOnSls8jicJylaj1PMyH379yKUBhb/uRg8pMTyC5d3xg+9VLHjY1Nam3t1eSNDs7q4mJiaK2j62plzwEAKDWUFwGsO3C4bAefPDBzJzEkrS8vKyFhQU5jqPm5uas+TdPnjypS5cuaXJysuBztre36/jx41kj5GKxmGKxmJqamhQOh9XZ2ak3velNWcegdpGHLgp75UMOSn19fQqHw5Ik27Z169atkp8T2eopD+8t4uc4DouXVph6ykMAAGoNxWUA2+7AgQOZzkMqldKFCxc0OzubdUwkEtGJEycUDodlmqYOHDig6enpgm+D3L9/f6ZjsLy8rLNnz2Yt4NPT06MHHnggq1OD2kYeuq9v9TzLjOLbXvWcg6Zpqr+/X3v27MlsGx4e3nDxP5RGveRhd3d3ZuTrzZs3+TKtwtRLHkruHUP79++X3++XYRhKJpOKx+OKx+NaWlri7jcAQNWhuAygYIFAIDPiLBfHcbLmc5Xc2w/vLR5m27bOnDmjWCy25rlLS0s6c+aMHn300cx5du3apZGREc9xtre3q6mpSZI7XcX9nQdJGhsbUzKZ1LFjx+Tz+TyfA+VDHhauv78/8zidTm9pBFg9Iwc3Fo1GtWPHDkmSz+dTQ0ODIpGIAoGAJHc6lqGhIUYtbxF5uD6fz6f9+/dLWsk3lAZ5uDm/36/du3fn3GdZlkZHR3Xjxg3mAwcAVA2KywAKduDAAR04cGDDY86cOaO5ubnMn/fu3Zt5PDExkbPzcE8ikdDY2FimAFZoB2LXrl2Zx1NTU2s6D/fcuXNH58+f14MPPsjCZlWEPCxMS0uLenp6Mn8eHBykI1sgcnBjvb29Wbm22tLSkq5du6aZmZktn6fekYfr27t3r0KhkCTp+vXrjAwtIfJwffF4PJOHtm3Ltm35fL6sdn0+n/bs2aOdO3fq1Vdf3fC9AACgUlBcBlBSqxcLk7Lnd81nlNrqDkQoFJJpmp5vf1x9O+Nmq37PzMwonU5nRtShNpCH2e4tmnTP3Nycbt68WZJzwVXPObi4uJj54sIwjKy5SyORiB588EGlUilduXKF0fMlVo952NjYmCkkzs/Pa2xsrOC2UBz1mIeSdPbsWQWDQaVSqUy8hmEoFAqpqalJ/f39malbgsGgjhw5oldeeUWO42zpvAAAlBrFZQAFm5qa2nDOQtu2s+bL8/v9WRfm+YzGWH2MYRgKh8OeR3HcGyUisWBZLSIPvTt8+HDmdmDLsvT666+XNZ5qRw5ubHR0VKOjo5k/B4PBzEJZvb29mffj2LFjGhoaYsqCApGHuR08eFCmabKI3zYhD9eXa0oQx3G0vLys5eVlTU1Nae/evZmR3M3Nzerr6ytoZDYAANuJ4jKAgk1NTXkaAXRvlW/Jnd8un9tSHcdRKpXKdDwaGho8dSDujWhZ3RZqC3nozd69ezPz3zqOo0uXLnHb7RaRg94kk0klk0nNz89rZGREjzzySGYU4Z49ezQ9Pa2FhYWyxVetyMO1Ojs71d7eLkm6ffs2ebUNyMOtGRoaUnt7u6LRqCR3CiuKywCASmdufggAFMfqkSlebl8sdBXw+8/pOA63FqKu87C7uztrbsvr169ramqqLLHUs3rOwfulUim99tprWbeIr54LFaVTD3l4bxE/y7I0NjamhoaGnD/BYDDzHNM0M9uZIqv06iEPvVo9svveXUYAAFQyRi4D2DarbwUMBAIyDGPTC3rDMLI6fV5HWCaTycxj0zTl9/tZyKfO1WsednR06NChQ5k/37hxg9FQZVKvObieeDyupaWlzLyrq+dfRenUeh4GAoHMiHifz6eTJ0/m9bxoNKq3vOUtktyi9A9/+MMtFTKxsVrPw0Ksfj2rXycAAJWKkcsAts3qlbjv7xisJxgMZlbRvjcvnRfJZDKrU7h6jj3Up3rMw9bWVh07dixzG/CtW7d0/fr1bY0BK+oxBzezupji8/nKGEn9qPU8LMZoVJ/Pt2bxORRXredhIcLhcOZxuddoAAAgH1wtAdg2tm0rmUxmOg5dXV1Zizzl0tXVlXkcj8cL6iwmk8nMhXp7e/uGF+rBYDBTgENtqrc8jEajOnHiRKa9sbExXblypShtozD1loP5uDfCVJIWFxe37bz1rNbzMJ1O6/XXX8+rWBmJRDJz0cfj8cycwYlEImuUK4qv1vOwEKunwuDzEABQDaigANhW09PTmcc7d+7c9Pi+vr7M45s3b275nKs7JPfz+Xw6ceIEo+bqQL3kYSQSyWprcnJSly9f3nK72Lp6yMF8izFNTU2KRCKZP1NM2T61noe3b9/W8PDwpj+r555PJBKZ7V4WpkPhaj0PvYhGo5lFKCVpfn5+W84LAMBWUFwGsK2GhoYytyJGIpGsW/VXu3cxf29USTwe161btwo65+qORzQazSzws1ooFNLDDz/MXJ91oh7yMBwO66GHHsosXDQ9Pa2LFy9uuV0UR63noGEYevzxx3XkyJGsUcn3a2ho0JEjRzKvPZ1Oa3x8fEvnRv5qPQ9RHWo9Dw3D0JEjR7KKxrlEo1EdPXo089rn5+f5ggMAUBWYFgPAtkokErp586b6+/sluaNFGhsbNT09rYWFBUnuYk6dnZ2ZgoTjOLp27VrB8yfGYjHduXMnc1G/e/duNTU1aXp6WolEQtFoVL29vfL7/UqlUorH44pGo1t6ndFodMORMJLU39+fdbutZVkaGhra0nmRn3rIw4GBgazbwU3T1PHjxzd9XiqVYnTzNqj1HDRNU6Zpqru7W93d3VpYWNDMzIzi8bhSqZTC4bAikYi6u7uzikhvvPFG1hysKK1az0NUh1rPw2AwmPksXF5e1vT0tGKxmJLJpAzDUDgcVktLizo6OjLPSafTunjxYlHmDgcAoNQoLgPYdtevX5dt29q9e7cMw1AkEsm6JXq1RCKhS5cuaXZ2dkvnvHDhgo4fP662tjZJ7vx6948gWVpa0vnz59XX17fljuyuXbvU3d294TG59k9MTHhe9RyFqfU8vH+06L1z5mNwcFCJRKLgcyM/tZyDlmVpZmYmc57m5uYNR/9ZlsU0BGVSy3mI6lHLeZhKpWRZlnw+n8LhsHbt2rXh8YuLi7p69arnhQoBACgXissAPEmn0zkfe+E4jgYHBzU9Pa0DBw4oEolkrcbuOI7i8bjm5uZ07dq1Dc9jWZZs25Zpmpsed+7cOR08eFAdHR1ZK3HfG70yODgoy7Iy7TiOI8uyCnqNhYy8syxLqVSqoPPVG/Jwc/Pz82poaPD8vFQqRR7mgRzc3NmzZ9XZ2amdO3eqpaUl67Xdk0qlNDU1pcHBQRZOKwB5WBzFeB/rGXm4Mdu29dOf/lS7du1SR0dHzv+bbdtWPB7XyMgIX7IBAKqOUe4AAHj3wgsvPGua5lfKdf5AICDbtovayQuFQopEIkqn01paWvLUtmmamdsW8719MBgMqqmpSUtLSzlHaJbiNVaB55966qkP53NguXNQIg9rVN45KJU/D8nB/BmGocbGRgUCAfn9fiUSCcXj8Uot5JGHNZqHG/H5fDJNs5K+XOP/5BrNw2AwqIaGBvn9/kzRfHl5uRKnwPD0WQgAqF+MXAbgWSk6XolEouDb8G3b9jziLZlM6s6dO+vur6DOJdZBHqLcyMH8OY6jpaWlorSFbORhcViWVU9f5BUdeejtPNypAQCoJWuX4QUAAAAAAAAAYBMUlwEAAAAAAAAAnlFcBgAAAAAAAAB4RnEZAAAAAAAAAOAZxWUAAAAAAAAAgGcUlwEAAAAAAAAAnlFcBgAAAAAAAAB4RnEZAAAAAAAAAOAZxWUAAAAAAAAAgGcUlwEAAAAAAAAAnlFcBgAAAAAAAAB4RnEZAAAAAAAAAOAZxWUAAAAAAAAAgGcUlwEAAAAAAAAAnlFcBgAAAAAAAAB4RnEZAAAAAAAAAOAZxWUAAAAAAAAAgGcUlwEAAAAAAAAAnlFcBgAAAAAAAAB4RnEZAAAAAAAAAOAZxWUAAAAAAAAAgGcUlwEAAAAAAAAAnvnLHQAA72zbHjFN8/lyx4Ha4jjOj/M9lhxEKXjJQYk8RGmQh6gE/J+McvP6WQ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sI0OS/vTF3+rzB/2nyh0MUCjD1shH3vSJn5Q7DgAAAAAAAC+ccx/tU9CkLoeq5Jckf9B/yjCNr5Q7GKBQjuk8L+nD5Y5ju0z/2b/rC/r5jwfF5aTtkeiHPpnXlzS/9adX+/x+kYMoLkMjn/jIQN5fFJKHKAnyEJXAQx6SgygJj5+F1Y7CHkrCtkeMo3+U37+joHlKhqjLoSr5yx0AAO+CfvOUIZP/eFBcfjPvL2n8fp0y+VISRefti0LyEKVBHqIS5J+H5CBKo74G71DYQ0mY+fevgGpmljsAAAAAAAAAAED1obgMAAAAAAAAAPCM4jIAAAAAAAAAwDOKywAAAAAAAAAAzyguAwAAAAAAAAA8o7gMAAAAAAAAAPCM4jIAAAAAAAAAwDOKywAAAAAAAAAAzyguAwAAAAAAAAA8o7gMAAAAAAAAAPCM4jIAAAAAAAAAwDOKywAAAAAAAAAAzyguAwAAAAAAAAA8o7gMAAAAAAAAAPCM4jIAAAAAAAAAwDOKywAAAAAAAMgt8qB08NNS82P5Hd/3a9Luf13amABUDH+5AwBq1PskfbfcQQAAAABAlaNvlS8jJO35N5LZsHafY0s3flOyFry3a4bv/uRoNxd/h+RrzL/9yIPSjp+XfFHp2v8sOUnvMQIoG4rLQGl8StJBSZ8tdyAAAAAAUMXoW+XL3yIFe6T0nBR/476dtuSkyhLWunzNblG5+dGVbYYpOeULCYB3FJeB0jAkfebuYy6CAAAAAKAw9K28Wh6Sbv9huaPYmNkg7f2k5FjS2H+RWp+SwnvLHRWAAlBcBkqLiyAAAAAA2Dr6VkVnSMFuKdQnOWkpcUtKTXhrwmxwi8Jmo7R8TUrP5v/c2b+VZr4n2XG3uAygKlFcBkqPiyAAAAAA2Dr6VsUS7JF2fswtLK+2eFYa/0J+czNHTkg7P+rOxyy58zpPfVXuYPNN2HFp+muewwZQeSguA9uDiyAAAAAA2Dr6VltlNkn9vy4ZPmn8i1LsomRG3NHDLackMySN/s7Gbfg7pN5/IdlJ6fYfS8lbUtMjUucH3Hatxe15LQDKjuIysH24CAIAAACAraNvtZFQv9T9j7K3paakO992H3f8jORrkMb+RJr/0d0DpqTx56RAh9R4WGoYkOJX1z9H23vcIvLkl6WFF91tiRH3Z+fHlNfoZQA1geIysL24CAKwKZ/P0OHdTWqPBnVzMq7rt2LlDgl1hhxEJSAPUQnIw4pG32o9/hZ3FPFqiZsrxeXGo+4cy/Mvrn3uwmmp8QEpvG/j4nJ4nzsNxsLL2dsXz0ipacnXuLXXAKBqUFwGtl/dXAQFj79Xgf2PbakNx7YUf+GzcuLzRYoKtejJhzv18EDLltqwbEfPffuGFmLpIkVVuH09jXr60R2SpJMDLfr814eUSNpljgobIQdRCchDVALyENusbvpWniydl259bv39ga67C+9Za/elpu8e07nxOQId7rzMTrLgMAHUBrPcAQB16jOSfqXcQZSa0di29TZMn4xwcxGiKQ2juVNmdIdk+sodSl2LRrb+XanPNBQJV8bfY3PjyusxDEONocqIC+sjB1EJyENUAvIQZVAXfaviWyeXjbs5b8c3eb7hTosBoO4xchm17BFJHy3TuXfmcUzNf8uevnVh3X1GuEm+VvdtctJJWVPDuQ+007IXJksR3pb595xU6KGflSSlhl5W8ty3yxxR/boysv6CIZEGv7rbQpKkVNrWyETuC2XLdnRnvjJGXgyNxXR8PqmWSEAjEzHNLKTKHRI2QQ6iEpCHqATkYc2ib1VLUlNSsFsyG9YWkYM97u/kxMZtpGel0C53IUB7KXufwThGoJ5QXEYtOyjpl8sdxCZq+iLIGj0va/R8zn2+3iPyPfohSZKzvKjE6S9vZ2jFsXq0ssnHaTldvrGoyzdyd2YH+iJ6/yn3InkxntbXfzi2naEVZGYhpS98d6TcYcADchCVgDxEJSAPaxZ9q1oSuySFeqXWp6Q731rZboal1ndK9rK0dHbjNuKvS+F+KfpWafaFle0dz7hTalhL6z8XQE2hGgKUHxdBAAAAALB19K3ycedbUvSU1Plz7tzJsSuSr0lqedwtDE88L1nr34UgSZr9G6nlCanrQ+4CgolRqflNUuMRKTmZ34J+bU+vTMPhuztXe9t7JSflFqfn/m5LLxPA9qC4DFQGLoIAAAAAYOvqt2/lWNm/12MtSsO/IXX/oltkbnlcchx3uoxbfyAtvpK73dULAKYmpdHflXr+qdT+Pvf5iWFp5LfdonHj0Y1jMIJS5wdWisv3dLzf/Z2epbgMVAmKy0DlqN+LoC3w7TwsX8dumS09MqM75CRisufHZM+NKz16Xk58btM2jMY2BQ6+VWbzDplNHZLPLyc+L2v6htLDZ2TP3V45tqFFwcNPSoYho6ljJY6O3Qqd/MCqVh2lrr8ke/ZWEV8ttlMoYOo9j3Yp6Dd1fnBeV0eXFAyYetvxdg30RRQO+jSzkNT3z01reCx7rrpIg0+H+pvUv6NB7dGgImGfEilbc0tpzS2m9Nr1ed2aWl733MGAqXef7FQ46NP4TEI/On8nr/gkqa8rrH07I+rf0aBoxK/J2aQmZhI6d21Oc0vp4r5JKClyEJWAPEQlIA9RgPrsW6Wnpau/Kjl55Fd6Wrr5aUm+u9NYzLnTYeSy+LJ09eOSk8jevnxNGvq37qhjJyXZMXf72HObL/bnJKWrrMMI1AKKy0Blqc+LoEIEGhR6+Bn5dx7K2mwEwjKb2qXeowocPKXEmW/IGnt9/WYOvk2Bw++UYWZf/BjNnTKbO+Xf84gSL35J1sQ1SZLZ0S9//4k17ZiRNpmRtqxt9uIdistVLBL2aaCvSZI0H0vr5tSyPvRErzpagpljOltC2t8byXRkfT5DTz7cqWN7m2WaRlZ7fp+pSNiv3o6wjuxp1uUbC/re6QnZztpzN4V9OrS7+e45gjk7svfHNzQW07vf1KXDd593T/+OBvXvaNCxfc36ix+Pr7t4EioPOYhKQB6iEpCHKFB99q0cr4tOWlJqPI92E+vvs+4f0OPkV+AGUBNYwhOoPJ+RxFe4GzAa29Tw5McyhWV7eUGpkXNKnP/vSl37iayZm+5xgbDCjz0r/56TOdvxdR9U8Oi7ZJg+ObbltvHad912hs/IScZkGIbM5q7Mc+y5cdmxOdnLC3JSKxdYjpWSvbyw8hOfp7BcQ0xTeuZUd6YTm7YcpdK2JMmxV447uqdZJ/ZHM53Y8TvLujg0r9OXZnRhaF4zC8nMsYd3N+vhgZaixBcKmPrgE72ZTux8LKXB20u6s5CU47g95XDQpw+8Y6eaGjYZRYKKRA6iEpCHqATkITyibwUAJcbIZaAy1ee37HkKHn2XzIaoJCk9/oYSL39VSmd/k+7f/5hCx9/rHn/4SaVHz0tWMuuYwKEnMo8Tp7+SGZ18T/K178i/56Tsu8VqSXIWJhX/y993z7HvzQqdeJ8bx82LSr76jSK9QlSaQ/3N8vsM2Y6jH5yb1qtX52Q70o62kJKplZ6sYUiW7ej89XmduTqn2cXskSOmIb3z4U49dNDtwL7laLvOXZtX2soxVMqDB/rd0VKW7eivXpnUhcGFzL49PQ16/6keBf2mfKahRwZa9f1z01s6H7YfOYhKQB6iEpCHKAB9KwAoIUYuA5WLb9lzMNv65O89IkmyY7NKvPT8msKyJKWvn1b6tjsdhhFqVODAY9kHGKbMaLckyUksrSksuyewlB5k3mRIfp876umFlyf1ypW5zG2zEzOJrM7qhcF5/dE3h/TXZ6bWdGIlyXak75+bVjzhLoYSCphqbQoUJUbLdvTNH41ldWIlaXgsrpcuzWT+fGRv8/1PRRUgB1EJyENUAvIQBaJvBQAlQnEZqGyfkfTL5Q6ikgQG3p55nLryA8lefyXk1PXTmce+rv337XXcFY0lKdggBcLFDBM16MLQ/JpO4v0sW4on7A2PSVuOJmdXvhBpKUJH1rYdfeNHYxq8Hcu5/8LQStyNIZ989809iepADqISkIfmTxHVAAAgAElEQVSoBOQhCkTfCgBKgOIyULnu3ZP3jCSuOu8yoyvzH1vTwxse6yytLLhi3LfYnhxH9vyEu88wFXrTByV/UEAuyZStvz0zVbT2lpZXvhSJhLc+32I8YWlonU6sJMWWLaWtlQ52hDkeqw45iEpAHqISkIcoEH0rACgR5lwGKpMj96LnO5I+qJWLofpm+mQ0uPPiOY4jf8+hzMIouRjGynWjEWqSTL9kr6xanHr9b+V76/8oSfLvOCDfe35VqeunlR5+VU5isUQvAtUolbaVTBf2z9BnSo1hvyJhn0IB9zvdxiJ0Xr1aWrbUEnHP3xDyaX6JFbyrCTmISkAeohKQhygAfSsAKCGKy0DlWX3x8wFJaycUrlNGY1umYGwYhoLH3uPh2Y5kZN+sYU1cU+LcdxQ89h4ZPr+MYKOCh59U4IEnZN2+rNQbP5Y9d7uIrwD1Ihrx69i+qI7saVK0sTjzN26VtWqBIobr1D5yEJWAPEQlIA/rHn0rACgxistAZeHiZwNGcGVeZMdxZM+N5f1ca+yKZCXXbE8P/VTW1JCCD7xdvt5jMkxThmnKv+uofL1HlL7+opIXXhADHJCvkw+06B0PdmSNnJfckVbW3VWHAndXiQdKgRxEJSAPUQnIw7pH3woAtgHFZaBycPGzCSc2l3lsGIaWf/Dchgv65d3u4pQSr3xNxoUX5N/9kAL7H5MRisgwDAUOvFVOOqnU63+35fOg9p3YH9UTD3VKchf0ee36vC4MLWhmIanUqlt4n35zl47tjZYrTNQwchCVgDxEJSAP6x59KwDYJhSXgcrAxU8enOUFOVZahs/96DIaonKWZorXfmJRqas/VOr6iwo99Iz8fcclSYGBx5V648eSlSrauVCb3ny4NfP4hVcmN13JHig2chCVgDxEJSAP6xp9K0nuW8DdlwBKz9z8EAAlxsWPB05spZhstuwszUmstBKv/LmcxJIkyTBNmdEdGz7FMFnpu941NfgUjbhzOabSti4O0YnF9iIHUQnIQ1QC8rCu1XffyvBLXR+RDnxKGviP0q6PlzsiAHWA4jJQXvV98VMAa3Iw8zgw8LaSnsteurPyB2ftt/73is+SZISbShoLKl/zqkWCUmk7V8pIkkxTao1UxoJCqC3kICoBeYhKQB7WLfpWLe+U2t4lLY9IU1+VUtPljghAHaC4DJQPFz8FSF75gZzUsiTJ19Kj4LH3SMYGH2WGIV/XfinYkLXZbO9XYODtki93h8JoiMqM9kiSHNuSPT++5hhneWUUjNnWJwXCa45B/ZieT8q523ttDPvV0x5ac0woYOqD7+jVrq6GNfuArSIHUQnIQ1QC8rAu0beSpKaHJceSbn9emvmuNPHFckcEoA4w5zJqWULSZJnO3S5po3kSuPgpVDKm1NUfKnj03ZKkwIG3yuzYo/TN83IWpmTHZmUEG2U0ROXr2CNfz4DMcLOWX/lzWaPnM834OnYreOQpBfa/RamRs7InB2XHZiTTL1/bLgUG3i7D7xaerVuXci4caM9PyEklZARCMnx+hU/9gtJDL0u2JbNrn6zxN2Tdurg97wvKLpmydXs6od5O90uGv//2Hl0cWtDV0SXZtqM9PY06vq9Zbc1BOY6zZuV6YKvIQVQC8hCVgDwsCfpW1cDfJllLkr1c7kgA1BGKy6hlX5e08US5pXNB0tF19nHxs0Wpaz+RTJ8CD7xDhumTr3WnfK2bzL+cjGf98d6UF0aoUcGDp6SDp3I+zZ6fUOLsX+RuM51QavC0gg+8Q5LcOB5+JrPbWZrR2pI0atl3T4/rF57uVzBgKhL2682H2/Tmw21Zx0zMJvTKlVn9zGPdZYoStYwcRCUgD1EJyMOio2+VD7NBCvVL8WuSLCm0RwrtkpJj0vKwuy0nn3tcqFdKzUiJG5Kd3X9x294tLV9zj296SHJsaelVyYxIgXbJDEtypPA+9zmJW5Kz+i0xpGC3FOqTnLS7PzWxzutY51xOOnu/k5aCu6Twbik5Li1fX2kn0C017JdSU9LyoHtsLqE+tw3p7rHXtWYxwvvPGeiRwnvc+Jdv5H5vjaD7nGCXlJ6T4ldyxJDHew9gQxSXge1VWRc/5ZRKZEaKOCmP/3k7jlJXfqD07csKHXuvzLZeGTmmpHASS7KmhpS+cVbW5PWsfdatS0q88jX59z8ms6VnzYgVJ7Gk1LWfKDX4U8lKrf8yLv+dZKUVOPRE1qJ+Tjopa3rY2+tCSSRSdibXEik77+elLEe27cg083/e3FJa//UvR/X2E+0a6Mueh3sxntaVkUX98LVptTQFMjElc7Sdz7m9xnfvGMdxlEzn/z5g68hBFzlYXuShizwsL/LQRR4WTeX1rSInpJ3/XBr9tNT2HilybGVfckIa/V0pfd88yKF+aedHpWCPu86LYUh2Qhr/orTw4tq2b/2h1PkP3OMlafT3pMhxd67le3b/uvt77L9I8z9xHwd7pJ0fcwu5qy2elca/IFmrFr7c6FyxCyv7b37Gnee56cTKcxdekW7/J6nzf3Dfg3v9rOUR6ebvSdb8qte+223nXvv3LI9IN39fsubWxnTz96WWd7hTgNwTf0O6+VnJjq1sazwidf9jKbDqS6X0nHTrc9LykLf3HsCGDEn60plPPWuYxlfKHQxQKEfO8z//0Cc+XO44Vsn17XrRLn4WvvbJZw2Z1f9v1heQ/EFp1cJ4hTJCTTKaO2X4Q3KSMTnLC3Jis/k9OdAgM9olI9goJxmXE5uVE5/Xmm/LN2L6ZETaZDa0yEkty54bl+x1vpmvUI70fPPP/e95/Tv61JeuPmtW0f8bAb+hgM9ULOFtLLnfZygYMLWcsGR7SAfJncuxtSmgSINPk7NJLcSy8yHoN2SahpaTuTuV+ZzbS3yGITWEfEqlbaXSHl/MtnGe/58+PJD3Z3k15SE5WC05KJGHa5GH5ZB/HlZTDkrkoVQteejts7DEStq3kiTn8i89K0Nb/3fU/JhbALWW3ELm5P8npWel1iek1ifd0cs3/q+V482ItO83JXtJGnvO3d/0kNT+96Rgr3ts4kZ22+l5d2Tt1Nfckcqxy5Isd5Rw7y+5RdLb/8l9TmLYnSLDbJL2/YZk+KTJ56XYRffcrU9JLafcNkZ/Z+3ryHWu9HT260zdkaa/4T7u/kUptNMdSRzokqb+XFp+Q2p7rxR9izTzV9Lkl1fO0/5+d5T17F+7r90wpbanpfb3SnM/cIve6723d/7CLdh3POO+Z3e+4y5iKEn+dmnvJyUn6RaKl4fduNqfkWKXpOmveXvvC+XoeePwH+b176hoOQiUASOXge1Red+qVwIrteGoYC+cxKKcxGJhT07FZU9v8cLBtuQsTMlamNpaOyiJVNpRKu19kpK05ShtFTa5SSJla3wmIc3k3p9MO9roC4x8zu0lPseRYstM1FIu5CA5WAnIQ/KwEpCH5GERVH7fKjUtjX5qZe7jif/XnSKjYZ/7O3H3Dsf2vyf5GtzRtPGr7raFl9zn7fpVd+Tv2B9nt22Y0uj/7RatV0vPSvbdvlX89ex9HT/jnmfsT6T5H93dOCWNPycFOqTGw1LDwEoMm50r8zrvuPvvjRie+jM37uAOd5T28qC7ffyLUtMj7ujj1cXlOzmmH5z6b1LL41J4/wbn/F3Jvtv3G3tOOvDvpciDK8XljvdLZlC6+Z/dqTwktyi+dMGdXkMq7L0HkJNZ7gCAOlD5Fz8AAAAAUPmqo28194O1i+otnXV/h3evbGsccI9bHpaM0MrP8pDkWFIwx7oyd767frF3PY1H3bmG53NM9bBw+m5c+7yfa+772VNRJEbc37ErK4VlyZ33OTUl+VvyCNZxp87wRzc456pBRXbMLTivbju8V7KTK+/56rbvxVvIew8gJ0YuA6VVHRc/AAAAAFDZqrtvlXIXFM8qgga63ekmBn4v93PM4NptdgEvO9B1t0icY8R86u4c0IHOrZ/LTq6/z0m503LcL7xfannCLbr7opIZcBfi87Konr0s+VfNrZx5vRtMO1PIew8gJ4rLQGlV78UPAAAAAFSO6u5bGXfLL9bqEc2WO4fwrc/nfk5qOvf2guQo7K6Oy0sxt1ia3yz1/DMpOe5O15GecUdYd31ki8VdM3chO8t2vvdAbaO4DJRW9V78AAAAAEDlqJ6+lZFjBtJQr/s7vapomZqSQrul5etuUbVUUlNSsNudb/j+InKwx/2dnCjd+dfT/rPu6OiR38qOq+MfbK24nJ52Ry8bQXdRv1y2670H6gBzLgOlUz0XPwAAAABQuaqrb9X+s1Kwd+XPZqM7StdOSrFVi+bFLruF6JYnShtP7JI7krf1qeztZlhqfac7rcSa+Ym3QaBdkpU9nYa/Y/35lvMVu+q+3pbHs7f729zFC6Xte++BOsDIZaA0vi3pf1O1XPwAAAAAQGWqvr6VGZb6/5U71UNyyi1y+lukO9/LXozuznek6NukrmfdkbbxK+5I3uAOKfKQtHROmv3rrcdz51tS9JTU+XNSoMNdcM/X5MYV6JQmnpesxc3bKbbYVanphNT9C9L8aSnUI7W/311Yb70Rx/m4820p+taV9zUx4i7Q1/IO9+8kdnn73nugDlBcBkrjX5U7AAAAAACoAdXXt5r+ulvMbH23OzrWXpamv+VuX82OSzd+U9rxD6XWJ6S2d7nbHUuKX5fib6wc69xbjC/HonwZ6+yzFqXh35C6f9EtMrc8LjmOOzXErT+QFl/JPn6zc62733HbdXI8z7HWbp/4U8n851LL290fa8l9n4JdUtPJ/GNyrOzt6Wlp5Lelnn+S/Z4uvird+a77Zy/vPYANUVwGAAAAAAAoFjspjf8/0uR/k3yNUmpSkpP72PSsdOtzkkx3FLF0d2G7VPZxiy9LVz8uORsM4B78P9bfl56Wbn5aks89jzXnFr1z2exc6+2349Ib/zL3HMYj/0EyjPtimpVGP+WOojYbpdS9eZ8NafL5/GMa+fdr207ckIb/T3eeaX+rlLqz9rn5vvcANkRxGQAAAAAAoNjsxexpMDY+eFVxdR0bFZYlbTyqedUxqfHND9vsXOvtX7cwa61bX5e1eN+0HE7uAvW6MW3Qth2XkvF1dmYO2vy9B7AuFvQDAAAAAAAAAHhGcRkAAAAAAGCrrCV3qoVyLI4HAGXCtBgAAAAAAABbFbsgXf9fyx0FAGwrRi4DAAAAAAAAADyjuAwAAAAAAAAA8IziMgAAAAAAAADAM4rLAAAAAAAAAADPKC4DAAAAAAAAADyjuAwAAAAAAAAA8IziMgAAAAAAAADAM4rLAAAAAAAAAADPKC4DAAAAAAAAADyjuAwAAAAAAAAA8IziMgAAAAAAAADAM3+5AwDgnZO2R+Q3ny93HKgthqMf53+wRiSHHERROV5yUCIPURLkISqBpzwkB1ECnj8Lq51tj8ikf4UiM5z6+neEumVI0pfOfOpZwzS+Uu5ggEI5cp7/+Yc+8eFyxwEAAAAAAOCFc/mXnpUh6nKoSkyLAQAAAAAAAADwjOIyAAAAAAAAAMAzissAAAAAAAAAAM8oLgMAAAAAAAAAPKO4DAAAAAAAAADwjOIyAAAAAAAAAMAzissAAAAAAAAAAM8oLgMAAAAAAAAAPKO4DAAAAAAAAADwjOIyAAAAAAAAAMAzissAAAAAAAAAAM8oLgMAAAAAAAAAPKO4DAAAAAAAAADwzF/uAAB491t/erXP79epcseBGmNo5BMfGfhJPodO/9m/6wv6TXIQReWk7ZHohz6ZVw5KfBaiRDx8FkrkIUrEQx6SgygJj5+F1c4599E+Bbm2RZHZ9ohx9I/q5t8R6hfFZaAK+f06ZZrGV8odB2qN87ykD+dzZNBvnjJkkoMoLr+Zdw5KfBaiVPL/LJTIQ5RK/nlIDqI0vH0WVr2geUqG+HeE4jK9XdsC1YppMQAAAAAAAAAAnlFcBgAAAAAAAAB4RnEZAAAAAAAAAOAZxWUAAAAAAAAAgGcUlwEAAAAAAAAAnlFcBgAAAAAAAAB4RnEZAAAAAAAAAOAZxWUAAAAAAAAAgGcUlwEAAAAAAAAAnlFcBgAAAAAAAAB4RnEZAAAAAAAAAOAZxWUAAAAAAAAAgGcUlwEAAAAAAAAAnlFcBgAAAAAAAAB4RnEZAAAAAAAAuUUelA5+Wmp+LL/j+35N2v2vPZzAJ5kNBYUGoPz85Q4AAAAAAAAAW2SEpD3/Jneh1rGlG78pWQve2zXDd3/yLAD7OyRf4yYHGVLLO9yfUL9kGFJ6Xpr/sTT9TclJeo8TQFkwchkojfeVOwAAAAAAqAH0rfLlb5GCPe7j+BvZP8tvSE6qvPGt1vpuqfsXJMMnzX1fmv+JW8Buf5/U/Y/KHR0ADxi5DJTGpyQdlPTZcgcCAAAAAFWMvpVXy0PS7T8sdxQbS01IN/+jtPTqyrbw30j9/4sUfUya+jMpPVu28ADkj+IyUBqGpM/cfcxFEAAAAAAUhr5VyRhSsFsK9UlOWkrccou+XpgNUnivZDZKy9fyLwgvnVu7bXlQSo5LoZ1SoJviMlAlKC4DpcVFEAAAAABsHX2rYgr2SDs/5haWV1s8K41/Ib+5mSMnpJ0fdaezkNx5nae+Kvf7gAIZd2dvteOFtwFgW1FcBkqPiyAAAAAA2Dr6VsVgNkn9v+7Odzz+RSl2UTIjUutTUsspyQxJo7+zcRv+Dqn3X0h2Urr9x1LyltT0iNT5Abdda9F7XP52dyS1tSglRgt7bQC2HcVlYHtwEQQAAAAAW0ffajOh/rWL4qWmpDvfdh93/Izka5DG/kSa/9HdA6ak8eekQIfUeFhqGJDiV9c/R9t73CLy5JelhRfdbYkR92fnx1TQ6OWO97u/Z/9Wku39+QDKguIysH24CAIAAACAraNvtRF/izuKeLXEzZXicuNRd47l+RfXPnfhtNT4gBTet3FxObzPnQZj4eXs7YtnpNS05Gv0FnPjYSn6dik5Jt35lrfnAigrisvA9uIiqML5fIYO725SezSom5NxXb8VK3dIALDt+CxEJSAPUQnIw4pG32o9S+elW59bf3+g6+5iedbafanpu8d0bnyOQIc7L7OTLDjMlba6pZ2/5M6zfOvzbuEbQNWguAxsv5q6CHry4U49PNCypTYs29Fz376hhVj5LyL29TTq6Ud3SJJODrTo818fUiLJLVnVLHj8vQrsf2xLbTi2pfgLn5UTny9SVKg1fBaiEpCHqATkIbZZTfWttpcv92bjbplo0wX1jJXF97YURou0619KRlC6+WkpeXvrbQLYVkX4JABQgM9I+pVyB1EM0cjWv6PymYYi4XUubrZZc+PK6zEMQ42hyogLhTMa27behumTEW4uQjSlYTR3yozukEzytVz4LEQlIA9RCchDlEHN9K22TWpK8kcls2HtvmCP+zs5sXEb6VnJbHQXArxfvkVnMyL1/Zo7CnrsP288DQeAisXIZdSyRyR9tEzn3pnHMTXxLfuVkfVXAY40+NXdFpIkpdK2RiZyf/tt2Y7uzBfhdqoiGBqL6fh8Ui2RgEYmYppZSJU7JGxR+taFdfcZ4Sb5Wt1/rk46KWtqOPeBdlr2wmQpwtsy/56TCj30s5Kk1NDLSp77dpkjqk98FqISkIeoBORhzaJvVUtil6RQr9T6VPb8xmZYan2nZC9LS2c3biP+uhTul6JvlWZfWNne8Yw7pYa1tPHzzbDU93G3mD32nDtXM4CqRHEZteygpF8udxCbqPqLoMs3FnX5Ru5OxEBfRO8/5X7zvRhP6+s/HNvO0Aoys5DSF747Uu4wUETW6HlZo+dz7vP1HpHv0Q9JkpzlRSVOf3k7QyuO1aOVTf5bLxc+C1EJyENUAvKwZtG3qiV3viVFT0mdP+eOGo5dkXxNUsvjbmF44nnJWv+LIknS7N9ILU9IXR9yFxBMjErNb5Iaj0jJyc0X9Ov6iBTe646QDu91f1ZLz0gz3yv8NQLYNvRCgfLjIggAAAAAtq6++1aOlf17PdaiNPwbUvcvukXmlsclx3Gny7j1B9LiK7nbXb0AYGpSGv1dqeefSu3vc5+fGJZGfltqe1pqPLpxDL6702kEd0jBd63dn5ykuAxUCYrLQGWo74sgAAAAACiO+u1bpaelq78qOXkshpmedhfQk+/uNBZz7nQYuSy+LF39uOQksrcvX5OG/q27KJ+TkuyYu33sOcnYZH7yW5/bPEYAVYHiMlA56vci6D6hgKn3PNqloN/U+cF5XR1dUjBg6m3H2zXQF1E46NPMQlLfPzet4bHsufoiDT4d6m9S/44GtUeDioR9SqRszS2lNbeY0mvX53Vrap2LJknBgKl3n+xUOOjT+ExCPzp/J6/4JKmvK6x9OyPq39GgaMSvydmkJmYSOndtTnNL5V/tHKXj23lYvo7dMlt6ZEZ3yEnEZM+PyZ4bV3r0vJz43KZtGI1tChx8q8zmHTKbOiSfX058Xtb0DaWHz8ieW1k522hoUfDwk5JhyGjqWImjY7dCJz+wqlVHqesvyZ69VcRXi+3CZyEqAXmISkAeogD127dyvM4Lbkmp8TzaTay/z7r/WtfJr8ANoCZQXAYqS/1eBK0SCfs00NckSZqPpXVzalkfeqJXHS3BzDGdLSHt741kOhA+n6EnH+7Usb3NMk0jqz2/z1Qk7FdvR1hH9jTr8o0Ffe/0hGxn7bmbwj4d2t189xzBnB2I++MbGovp3W/q0uG7z7unf0eD+nc06Ni+Zv3Fj8fXXbQGVSzQoNDDz8i/81DWZiMQltnULvUeVeDgKSXOfEPW2OvrN3PwbQocfqcMM3uEh9HcKbO5U/49jyjx4pdkTVyTJJkd/fL3n1jTjhlpkxlpy9pmL96huFyl+CxEJSAPUQnIQxSIvhUAbAOz3AEAWOMzkn6l3EFUCtOUnjnVnek8pC1HqbQtSXLsleOO7mnWif3RTOdh/M6yLg7N6/SlGV0YmtfMwsqK44d3N+vhgZaixBcKmPrgE72ZzsN8LKXB20u6s5CU47g9lHDQpw+8Y6eaGja5NQxVxWhsU8OTH8sUlu3lBaVGzilx/r8rde0nsmZuuscFwgo/9qz8e07mbMfXfVDBo++SYfrk2JbbxmvfddsZPiMnGZNhGDKbuzLPsefGZcfmZC8vyEmtjCJxrJTs5YWVn/g8heUawWchKgF5iEpAHsIj+lYAUGKMXAYqE9+y33Wov1l+nyHbcfSDc9N69eqcbEfa0RZSMrXSgzAMybIdnb8+rzNX5zS7mH07mGlI73y4Uw8ddDsObznarnPX5pW2cgxR8eCBfneUimU7+qtXJnVhcCGzb09Pg95/qkdBvymfaeiRgVZ9/9z0ls6HyhE8+i6ZDVFJUnr8DSVe/qqUzr5d0L//MYWOv9c9/vCTSo+el6xk1jGBQ09kHidOfyUzOvme5GvfkX/PSdl3i9WS5CxMKv6Xv++eY9+bFTrxPjeOmxeVfPUbRXqFqCR8FqISkIeoBOQhCkDfCgBKiJHLQOXiW3ZJfp872uSFlyf1ypW5zO2KEzOJrE7ChcF5/dE3h/TXZ6bWdB4kyXak75+bVjzhrnAcCphqbQoUJUbLdvTNH41ldR4kaXgsrpcuzWT+fGRv8/1PRZUy2/rk7z0iSbJjs0q89PyawrIkpa+fVvq2Ox2GEWpU4MBj2QcYpsxotyTJSSytKSy7J7CUHmTe5HrHZyEqAXmISkAeokD0rQCgRCgu4/9n787D47jOO99/q3rvBrqxEgBJkCJFipskajGpnbJsyavGseLrxDPJeK4TJ5mbm8zMM859bnIz987MnSRPJhMnsWMrTjJJnMRZbN/EWyzZzlieWJIl0RZlUaJEkSIJEiCJfUdv1V11/zhANxpogGhi6Qbw+zwPHzSqTlWdqj4oVr116j1S2z4F/Hy1K1Ftp7rG512cz5V3IZVxFy2Ty3sMjBYDgIkVuIFwXY+vfa+XC1eTZeef6irWOxry4ZuT80/Wp8De+wqfnTPPgJtfsKxz/njhs69195y5Hky/IkswAoHwSlZTNhidC6UWqB1KLVA7lOukeysRkVWg4LJI7Zp5J+9RYNNedWYdl396aXDF1jeVLgYBY+Hl57lLZfJ0LXDzAJBM58nlizc2MeXW2xDseDH/cX7o4qJlvaniwD/WnMH28Dzc8X4zz7IJ3fkY+IOIzKVzodQCtUOpBWqHcp10byUiskqUc1mkNnmYi55vAI9RvBjadJycSzZ3fbvvsyEa9hML+wgFzLO06ArcNFRqKp0nETPbj4R8jE/l1rwOsoJsH1bE5Gf0PA9/+77CAD3lWFbx/sUK1YHtB7fYBpw3/gnf3f8cAP+WG/E9/As454+Tu/hDvMzkKu2ErDc6F0otUDuUWqB2KNdB91YiIqtIwWWR2jP74uf9wPxErrKgeMzPoV1xDuysIx5dmbx5y5WfNTCMukmsf1a0sRAwtiyL4KGHK1jaA6v0paF8/zkyJ79B8NDDWD4/VjBKcP9bCdx0jPzV0zhvPoc7dnUF90A2A50LpRaoHUotUDvc9HRvJSKyyhRcFqktuvhZhjtuSvDArc0lPUXB9HDJT4/2EpgenVvkelnBYl5kz/Nwx3qXvGy+9wzks/Om57p+QH6wi+BN9+HbegjLtrFsG/+2g/i2HiB3/gWyp76NOtrIUuhcKLVA7VBqgdrhpqd7KxGRNaDgskjt0MXPMtyyO86xwy2AGUjllfPjnOqaYGQiizPr1clHjrRy6IZ4taopG4CXHCt8tiyL9DOfXXRAvyWvd3KQzImvYJ36Nv4dhwnsPooVimFZFoEb78bLZXHe+O6ytyMbm86FUgvUDqUWqB1uerq3wkIdE0RkLSi4LFIbdPGzTEf2NxQ+f/vEwDVHEBe5Xl56Ai+fw/KZ/0KtSBxvamTl1p+ZxDn7LM75FwgdfhT/9psBCOy9H+fN5yDvrNi2ZOPRuVBqgdqh1AK1w01t895bWX5o+dfpqSIAACAASURBVADEj4Idg+RrcPmT1a6ViGxw9rWLiMgq27wXPyukLuIjHjM59Jycy2tdunmQ1eUli8FkO9GxOhvJ58ic+DJeZgoAy7ax41sWXcSyNeL8ZqZzodQCtUOpBWqHm9rmvrdKPAiNb4N0Nwx+CZyhatdIRDYB9VwWqa7NffGzQupnDc7i5Fy8Bd7+sm1oiNXGQC6yvuUHLmDXtwIQ2Hsv+Suvrdq23KlhfKGY+aVM454JPgNY4bpVq4fUPp0LpRaoHUotUDvctHRvVXcbeHm4+hlw09WujYhsEuq5LFI9uvhZIUPjWbzpu4Zo2E97U2hemVDA5rEHtrKtNbLW1ZMNKHvmGTzHXLD7Eu0EDz0M1iL/pVoWvtbdECxtf3ZTJ4G994Gv/I2tFYljx9sB8Nw87njfvDJeutgby27cDoHwvDKyOehcKLVA7VBqgdrhpqR7KwB/I+SnFFgWkTWlnstLEPSFue+G9xH0hRlO9vL9nm9dVxlZcxlgoErbbgIWez9dFz8rKOu4XB3KsLXFBNX+2X3tvNY1wdmeKVzXY2d7lJt31dNYH8TzvHkjhotULJvEOfsswYNvByBw493YzTvJXX4Vb2IQNzmKFYxiReL4mnfia9+LHa4nfeLL5HteLazG17yD4IGHCOy+C6f7ZdyBC7jJEbD9+Bq3Edh7H5bfBJ7zV14vO3CgO96P52SwAiEsn5/wPT9BrutFcPPYrbvI9725qj2rpXboXCi1QO1QaoHa4arQvdVS2BEIdULqHJCH0E4IbYNsL6Qvmmll+Uy50FZwRiBzCdxUmXXvgPQ5U77uMHguTP3Q5FcONIEdBjwI7zLLZK6AN/twWBBsg9B28HJmvtO/wH4ssC0vVzrfy0FwG4R3QLYP0ueL6wm0QWQ3OIOQvmDKlhPabtYB02XPM28wwrnbDLRDeKepf/pS+WNrBc0ywVbIjUHqTJk6LOHYi8iiFFxegpA/SmvMnOiCvvlPvZdaRtbcV4HFE5SunlPAwQXm1c7FzwbyzeN9/MQjnQQDNrGwnyP7Gzmyv7GkTP9ohhNnRnnX0bYq1VI2Eufc82D7CNz0AJbtw9fQga/hGvmXs6UXqu7UMABWKEpwzz2w556yi7nj/WRe/nr5deYyOBeOE7zpAQBTj9seLcz2pkYWvI2RjUfnQqkFaodSC9QOV5zurZYidgt0/DT0fAIaH4bYoeK8bD/0/B7k5uRBDnVCx0ch2G5SoFkWuBno+yuYeGH+uq/8EbS8z5QH6PkkxG42uZZn7Phl87P3z2D8efM52A4dP2MCubNNvgx9fwn5WbnJF9tW8lRx/uVPmTzPdbcUl504AVf/GFp+1ByDmYc36W4zuGB+fNa+7zDrmVn/jHQ3XP59yI/Nr9Pl34fEAyYFyIzUm3D50+Ami9OiB6DtX0Fg1t99bgyuPA7prsqOvYgsqiaDy3tbbudwxwPY1tIGJro0+gbPX3pilWslsiJq6+JnlWUct9AbJOO4S17OyXu4rodtL325sakcf/0/erjvlib2bi/NOzuZynGme5JnXxkiURco1ClbZt1L2Xal9Zsp43ke2dzSj4OsASdTaA+eU2EPBc/DOfMMuaunCR16B3bjVqwyKSm8zBT5wS5yl14mP3C+ZF7+yutkTnwF/+6j2In2eT2nvMwUzrnncS78APLOwrtx+ruQzxHYd6xkUD8vlyU/dLGy/ZIVp3OhoXNhdakdGmqH1aV2aKgdrpjavbfq+KgJZPZ8EnKj0HAMGt4KW38OLv1GsZwdg+0fA3cKun/b9G6uOwxN74b2j0D2qulJO9uWD5metVf+yPRUzvZC9jJM/hC2/qwJkl79Y1M2M30daNdB5y+D5TOB0+RrZtsND0HiHrBD0PO78/ej3LZma/8IOMNw+XGTjqPtJ6H+Dgj8CgRaof9vIf0mNL4D4neZ/Rr4fHH52C2QHYD+L5h9t2xofASa3mGC2n1/Ob9O7T9lju3VPzYB++ZHp4/ZO80ghgD+Jtj68+Bl4cofmnWHOqDpUYgdNsHl6zn2IlJWTQaXdzbsX3JgGaAumFjF2mxe8VAzlmUxkRnB9dTvbQXU7sXPKrnUl+LxL18g4LNJZpbehiaSOR7/8gWCAZt0BcuNTjp8/bk+QoEBGuoCxCI+BkazTCSLrz4Njzv8wZcvYNsW6ez8i/mlbLvS+n3hO5eJhHw4ORcnt8CIMlIV+YHzJJ/4LfAHYdbAeJXwJgZJP//XAFihOqz6Fix/CC+bxEtP4CVHF10+1/MKuZ5XIBDBjrdiBaN42RRechQvNc68VwLL1wLn7LM4557HijViRxJ4Thp3rA/cBV4/lDWjc6Ghc2F1qR0aaofVpXZoqB2uiNq+t3KGoOfjxdzH/X9jUmREdpmfM0HfpneDL2J606bOmmkT3zfLbfsF0/O3909L123Z0PM7Jmg9W24U3OnOCKk3Suc1v8tsp/fPYfx70xMHoe+zEGiG6H6I7C3W4VrbKuznsJk/02N48O9MvYNbTC/t9AUzve+voO52E0yeHVweLvNm3uDfQ+J+CO9eZJu/B+6k+b33s3Djf4PYrcXgcvN7wQ7C5T8xqTzA9BifOmXSa8D1HXsRKasmg8vWrEGRRlMDJJ3xRUpD74R6Za20G5tu5c7tJpfom0Mvc+LyU1Wu0bpX2xc/q8jJeTi5yh9O5PIeufz1PdTIOC59IxkYKT8/m/NYLGC3lG1XUj/Pg2RaD2hqVt5ZtFdwJbzMJF5m8voWdlK4Q8vsHeHm8SYGyU8MLm89suJ0LtS5sBaoHaod1gK1Q7XDFVD791Zjz8wfVG/qZRNcDu8oBpeje0259EWwZqXXTHeBl4dgmZRrw99cONi7kOhBk2t4vEyqh4njEL3J5GmeG1y+1rbGni5NRZHpNj+TZ4qBZTB5n51BCLQsobKeSZ3hjy+yzVnX227SBJz9szodhm8AN2uO+dx1z9T3eo69iJRVk8Hl2c4MnqBrRAMRrTV71mvVPqvmm0mtq/2LHxERERERkdq3fu+tHDPWRkkQNNBm0k3s/WT5Zezg/GnudexyoHU6SFzmoYYznQO6XOC30m252YXneY5JyzFXeDckjpmguy8OdsAMxFfJoHpuGvyzcisX9neRNwOu59iLSFmKGoqsrvV78SMiIiIiIlI71ve91UynrfzsHs15k6v4ymfKL+MMlZ9+XRZIPTpTr0qCuSul/ojJoZztM+k6ciOmh3Xrjy8zuGuXD2SXWMtjL7KxKbgssrrW78WPiIiIiIhI7Vg/91azUn0WhLaan7lZQUtnEEI7IH3eBFVXizMIwTaTb3huEDnYbn5m+1dv+wtpeo/pHd39X0vr1fy+5QWXc0Om97IVNIP6lbNWx15kE9iQweVIoI7bt74Vvx1kYKqH1/uPL1r+to4HiYebyebT/KDnH8m5K5N783rFggn2td5JQ7iF+lATPttPMjvBwFQP54dfZSTVd811bIvvoTW2jcbIFhKRVjK5JKOpAUbTA1wceZ2kMzFvmWggzs3t92JhUR8qvlLSGtvGXZ3vnlXS4+zgSwwvoR6yTi5+REREREREatv6ubdqeg8k34DsFfO7HTW9dN0sJGflNU6eNvmBE8dgdBXHOUq+boLbDQ/B8BPF6XYYGh40aSXm5SdeA4EmE9idnU7D37xwvuWlSp6FhnYzMODs4+pvNEH25Om1O/Yim8CGDC7XBRvYntgLQCQQu2Zw+YamgwR9YQBe7X2WyezYqtdxIftbj3Co7R58dukrHPFwE/FwE7ubbuHpri/TO9FVdvmgL8yR7Y+wLbFnzvQQ9aFGOrmJfa138v3ub3F5/FxJmdbYVm5oPDBvnXWhBupCDSXTJjKjCi5f2/q5+BEREREREald6+veyg5D5y+ZVA/ZQRPk9Cdg+Fulg9ENfwPi90LrB01P29QZ05M3uAVih2HqJIx+Z/n1GX4C4vdAy49AoNkMuOerM/UKtED/FyF/nYNSL0fyLNTdAm0/AePHIdQOTe81A+wt1ON4KYafhPjdxeOa6TYD9CUeMN9J8vTaHXuRTWBDBpfXq476XdzacT8Arpfn0ugbjKT6sbCIh5rYlthDyB8hEWouG1yOBRM8dOOPEQ3UAZByJumbvMRoaoBIoI6W2Faaox0EfWHuu+F9vNjzbc4NnywsP5oeYCo7jm3Z+O0AAZ8ZMTXn5nBm5YXygOFU7+odiI3hSeBXWS8XPyIiIiIiIrVp/d1bDX3VBDMb3m5SZLhpGHrCTJ/NTcGlX4ct/wIajkHj28x0Lw+p85B6s1jWmxmMr8ygfAULzMtPwsVfg7afNEHmxP3geSY1xJU/hMkTpeWvta0F53tmvV6Z5bz8/On9nwP7pyFxn/mXnzLHKdgKdXcsvU5evnR6bgi6fwva/9fSYzr5Qxj+pvm9kmMvIotScLmGHGq7u/D5ma6vzgsgn7jyHW5svpWhqStllz/c8UAhsHx1/ALPX3oSZ87orje13MFtWx8E4Ob2e7k4+nohDchYeoivn/4TAPa23M7tW98KQPfoG3y/51vL3r9N5peqXQEREREREZENYP3dW7lZ6PsLGPh78EXBGcB00yojNwpXHgds04sYpge2m5Ouc/JFOPtvwFskxn7h/1l4Xm4ILn8C8Jnt5MdM0Luca21rofluCt78xfI5jLt/GyxrTp1Goefjphe1HQVnJu+zBQNfXHqduv/b/HVnLsHF/9fkmfY3gDM8f9mlHnsRWVTNB5fD/iixYGLB+Z7nls0fvN5Y2CTCrQCkc8myPZNdL8/ZwZfKLt8c7SikApnKjvHsxa/hlnlaeGbwBK2xbYVe0De13MFr/S+s3I6IiIiIiIiIiEmB4S413YQ7K7i6gMUCy8DivZpnlXGWkOLyWttaaP6Cgdn8gvF18pNz0nJ45QPUC9ZpkXW7KcimFphZKHTtYy8iC6r54PKtHQ9wa8cDi5Z56twXGJy6vEY1Wi0eM2fDoC9M0Bcim1/6Wz8HthwtfH6t74WygeUZZwZfKuRkbqvfqeCyiIiIiIiIiIiIVMyudgVWQsAOVrsKy+bhMZYeBMC2bO7e8R78FexXItxS+Dww1bNo2cnMSOFz3SK9wkVERERERERkifJTJtVCNQbHExGpkprvuXxl/DyjqYEF57uee81g6nrxat9zHNv1GADt9Tfw3v0/xdnBlzg//Crp3NSCy9mWj2igHgDP89gW34O34DshYM3KRRT2x/BZPvKL9HQWERERERERkWtInoLz/2e1ayEisqZqPrjcM3aWrpHXql2NNdE70cWJy09xuOMYPttPyB/h5vZ7Odh2Nz1jZ3lj4EVGUvNzI9UFE4WAsWVZHN56bMnb9PCwLLv8aK4iIiIiIiIiIiIiC6j54PJm8+bQy/RPdnNgy1E6G/ZhWza2ZbOjYR+diZs4M3iCk1efLumZHPCFC589z2MktfRE9FfGz5NzNRKqiIiIiIiIiIiIVGYTBJetaxepMeOZYV7o/gYvX32aXU2H2NtyO2F/FMuy2Nd6JznX4VTfc4XyyexY4bNlWTx17vOLDugnIiIiIiIiIiIislwbYkC/uXJutvA55I9UsSbLk85N8Xr/cb7++p9wceR0YfqBLUfxWcXnAqncFHk3V/g9Gqhb03qKiIiIiIiIiIjI5rMhg8sppzj4XcgXwVqk93LIHy0J1NaivJfjhe4nSeeSANiWTUOktaTM5Kzey42RtuVv1Cum3bAt3/LXJyIiIiIiIiIiIhvKhgwuZ3JJvOngqGVZtNffULZc2B/jod0fxGfPDi7XbhqNycxo4bM3K/gL0D95qfB5/5Yjy97WTCAbIBKILXt9IiIiIiIiIiIisrFsyOCyh8fAVE/h90Ntd+O3gyVlIv4YD934QeLhprWuXlktsW0c2HIUvx0oOz8aqC/0Vna9PKPpgZL5r/W9QDafAaAxsoXDHcewFvl6LSza6nYSnDUY4GypXLH3d3O0g4AvVNH+iIiIiIiIiIiIyMZW2/kgluH0wA/YUtcJQFO0nYf3fIiukdeZzI7SGGljT/OtBHwhnHyGqez4vDQTa601to1b2u/jppY7uDB8ir7JS0xlx/DZPpoi7Rxou6sQeO4ePTtvwL5MPsXr/cc53PEAAPta76Q1tp1Lo6cZTw8x5UwQ8oWJButpjW1na3w3kUAdL1x6koujp+fVZyw1gJPPEPCF8Nl+Htz1Ac4Nn8R187TV7+Dq+AW6x86s/oERERERERERERGRmrRhg8u9E110jbzODY0HAIiHm7m14/6SMmlniqe7vsLelttnBZc9qmEm5UXIH2H/lrewf8tbypYbSw/yg55/LDvvzMCL+CwfB7bcZYLS0TaaoovnX87kUmWnO26Ws4M/5GDbXQDT63pkVn3Hyi4nIiIiIiIiIiIim0NNBpez+XThszOd6uF6HO/+BmPpAfa1voWwP1qYnnImuTJ+nld6nyWbT5NzswC4nkvezc1bT951cD0X27Jx8tmy21pKmcV0j53BvuRjb8vtNEa2YFmluZ/TuSRvDLzIm4M/JO/NryOYdCCv9b9Az9ib3Lb1QZqi7QTLpLNI55L0T3ZP95C+uGCdTvU9R97LcXDL3fjs4qB+Tj7LwFR3xfsoIiIiIiIiIiIiG0dNBpf/6fzfEfJHybu5QuD3er0x8CJvDLxIJFBHItzCVHaMicxISZkTl5/itb7ncfLZsoHbpDPBl179NAFfaMGevkspcy0XR1/n4ujrBH1hEuFmgr4I2XyaqewYKWcSb4m9qsczQ3z3wt8DZtDCeKiJgC9IJp8mlZ1gyhlf0no8PF7vP84bAy9SF2wgGqwnm08zlhogPycth4iIiIiIiIiIiGwuNRlcBsjkkiu6vpQzScqZXHB++hrby3s58rnyPYYrKbMU2XyaganLy14PQDo3RXrW4HzXw/XyjGeGGM8MrUidREREREREREREZP2r2eCyiCzCohu8L1a7GrKxeB7PLblszu3Gb6sNyoqyKmiDZgGdC2XlVXIuBNQOZVVU1A7VBmUVVHwuXO9ctxtb17aywixvc/0dyaZlAfztSx//oGVbX6h2ZUSul4f3xQ8d/tiPVbseIiIiIiIiIiKV8E7/7AexUFxO1iW72hUQERERERERERERkfVHwWURERERERERERERqZiCyyIiIiIiIiIiIiJSMQWXRURERERERERERKRiCi6LiIiIiIiIiIiISMUUXBYRERERERERERGRiim4LCIiIiIiIiIiIiIVU3BZRERERERERERERCqm4LKIiIiIiIiIiIiIVEzBZRERERERERERERGpmILLIiIiIiIiIiIiIlIxBZdFREREREREREREpGL+aldARCr3Xz93drvfzz3VrodsMBbdH/vxvc8vpajaoKyKCtogwNDf/cftQb+tdigrysu53fEP/Oclt0OdD2VV6P9kqbYK/09e77yTH91OUNcUssJct9s6+N83zd+RbF4KLousQ34/99i29YVq10M2Gu+LwI8tpaTaoKyOpbdBgKDfvsfCVjuUleW3K2qHOh/K6tD/yVJtlf2fvO4F7Xuw0N+RrCy7smsKkfVKaTFEREREREREREREpGLquVwjLCz2td5JW90O6sPN+C0/E9lRzg+d5MLIqWpXT0RERERERERERKSEgss1IGAHObb7R2mOdpRMb/a3Ew81KbgsIiIiIiIiIiIiNUfB5Rqwt+X2QmDZ9Vx6J7pIOZPEw83EQ01Vrp2IiIiIiIiIiIjIfAouV5mFzd6WOwq/H+/+JpdGTxd+91m+alRLREREREREREREZFEa0K/KosF6Qv4wAJlciu7RN0rm5718NaolIiIiIiIiIiIisigFl6ssEqgrfJ7KjuHhVbE2IiIiIiIiIiIiIkuj4HKVRfyxwudsPlPFmoiIiIiIiIiIiIgsnYLLVWZbxa9AvZZFRERERERERERkvdCAfsuwpa6T1tg2GsKtJCKtBH0hxtPDjKWHGEsPcGH41bI5k0P+KIc7HsDCJhaMF6Y3hFu4q/Pdhd/TuSlevvrdNdkXERERERERERERkUoouHwdfJafO7a9jV1Nh+bNa4ltpSW2FYA9zbfxQveTjKT6S8o0RrZwQ+PBectGAnXsbNxfMu2V3mdxNaifiIiIiIiIiIiI1BgFlysUCyY4tusx6kONhWnJ7ATDqV5cz6U52k4smAAgHm7i7Xs+xPOXnqRn7Gyh/ERmhMnsGD7Lh8/2E/SFAci7ObL5dKHcZHZMgWURERERERERERGpSQouV+hwx7FCYDmbS/O9S/9A/2R3SZlEuJkHbniMaLAe2/JxW8eDXBk/XwgUT2XHeOL0nwKws2E/d+0wqTD6p3p4+sKX1nBvRERERERERERERK6PBvSrQFO0ne2JPQC4Xp6nzn1+XmAZYCw9xFPnPk8mlwIgGqxnb8vta1pXERERERERERERWWdC2+HG34GOn6t2TZZEweUK3Nx2T+HzpdE3GM8ML1g26UzQNfJa4fe9zbetat1ERERERERERETWVPOPwA2/Bjt+FXyJatdmY7Aj4IuBv6HaNVkSBZcr0BRpL3w+N3TymuVnB5cjgTp8lm9V6iUiIiIiIiIisipit8KeT0D90aWV3/7vYMevLH39lt8E02T9sULQ+HYItkJ4B8TvqnaNpAqUc3mJgr4QQX+48PtivZZnTGRGCp8tyyIWTCxpOdkQ3gl8s9qVEBERERERWed0b7VUVgh2/l/lA7WeC5d+HfITla/XDk//W2IA2N8Mvug1ClnQ8BAk7ofQNjMpPwXjz8HgV8HLVF5PWXt1t4Edgsxl8z3G74aRb1W7VrLG1HN5ieqCxa7oTj6Lk7/2ic718mRy6cLvseD66M4uK+LjwP9e7UqIiIiIiIisc7q3Wip/AoLTb1yn3iz9l34TPKe69Zut4W2w5cchP26CyUNPmPo1PgxtP1nt2slSxe82P/s+Zx4OhLaZfMGyqajn8hIF/cUndHkvt+Tl3JKy3grWSGqcBXxq+vOnq1kRERERERGRdUz3VpVKd8HVP6p2LRaXuQyXfhPSF4rTxp6GXf8F6t8CfX8JXrZ69ZNr8yUguh+y/ZA+DxMnoOEBqL8LMj3FcpYf2v4leHno/9vy32vifogegOFvQeZicXpkL9TdAaFO8/Ah0216t2evli4fvweiB2HgC+BvhOb3mXzFE9+HkVkvPkT2Qf0dJgBuBcEZMg9fRr8D5MvsY9w88Ah1mt74zhC4qeL88RcgdaZ0maXWefa+R/ZBoBUyXTD2TPlyNUzB5SVKOcVXR0K+CBY2Hu6iy1hYhP2xwu+T2dFVq5/ULF0EiYiIiIiILJ/urVacBcE2E2jzcpC5Ak5/ZauwIxC+AewopM9Bbolxj9Tp+dNywyZ4F2wDXz3khiqri6yt+iNg2SaACzBx3ASX40dh8O8pdLD0chDeZb7Xqddg8gdzVmRDy2Pgq4OhfyhObnkMGt8JuKZt2nETgG54CPr+orhdMMHZ+FFIvmF6xNvB4rZngsttH4bEfSZFTG7EzKu7Fepvh/gR87BjdqfQ0A7o/JhJCZO5XGzrs2X7SoPLldTZ8kP7R832AdwsRHZB/H4Yf36p30JNUHB5iSYzY4XPlmURCcRIOovnKooE6rAsCwDXc5nKji1aXjYsXQSJiIiIiIgsn+6tVkqwHTp+Zn4Kg8mXTa/hpeRmjt0CHR81wTcwQbvBL2E6m18HOwL+Jsinlh6kluqZGbxvJmCaOgvOCAQaIboPkrMeIIy/AC3vM0HcucHl6H4TWE53F3v31t0JTe8y06582gSDZ8pu+0WTOmXqdXAnS9e15cdN2d7PQm7M9F6eYUdh8Gsw9l2TjgVMfvDOj5mgcf0REyCf0fZh07av/vfiPsYOw7afh2wvXPy10lQzldY5ccwElnPjcOUPTO/v0A4ToG54YKnfQk1QzuUlyns50rlk4fftib3XXGZ2mansOK63eE9n2dA+hfKEiYiIiIiILJfurZbLroPOX4bAFuj7K7jwq3DxN2DsOag7bALG1+Jvhq3/G3geXP1TE2gbfhJa3g/B1srr5G80wW47MN17tUyKAqkdwQ4I7zDpLwrpHjyYmA4c199dWn4maBs9VHwYMaP+LdNlXihOa3nMtK2+zxaDtGAC1qlzZh2J++bXy8tBz++ZQG1uyPSmn3H1MzD8D8XAMpgyY0+bz7MftNhRCHea3sezextPvWyCx8F2CO0s3XZFdbZMug0wf4Pp8+Zz5pIJTE++PH/faph6Llfg6vgFdjUdAmB3082cHXwJb4E8yhYWe1tuL/x+dvClNamj1DQ9ZRcREREREVk+3VstJtRpctzO5gya4C9A87vAF4HeP4fx700XGDRBsUCz6WkZ2Wt6oi6k8WGwfDDw+WJQMNNt/nX8DEvqvVx/FJofNUE3f8IMCHf1T0uDjFKbZgbymx14BRNEbnrE9Mjt/+tifmVnAFLnIbIb6m6blfbBZ373XBifDkD7G8wDCmewNHfzjKlXTc/oYMf8ecNPmPQqlXCmy/sTxWm+6RS3Vpk+uU6/CTzPnldpnf0J87eWT8HUK6VlvRyM/KN50LNOKLhcgVN9z7GjYR8+20883My9Ox/luUtP4HqlT9T8doC7d7yHWDAOwGRmlHNDJ6tRZak9uggSERERERFZPt1bLcSfgLrbS6dlLheDy9GDJoA1XiaIO3EcojeZHLmLBZfDu0xAcOLF0umTL5m8yb7otevpDJltWAEItJh1tn/YBN2Gn7j28lI99UfNz/E5weXMJZOHONhmgqOzg88TL5jgcv2RYnA5dsAEcqdeh/x0KtlAm/npS8CuX5+/bWs6n7I/Pn9efmrxetsRs/3QDvN3YkfAXz+z4mI5Z9CsK9hu2uXMwJO+epND2XNLg8iV1tnfZH7mhtkIvfQVXK5A0pngzaGX2dd6JwDbEnt4ZO+/4OpEF8PJXgCaIu1sS9xIfagRAM/zbYN79AAAIABJREFUePnq09cc/E82FV0E1TCfz2L/jjqa4kEuD6Q4fyV57YVEVpjaoYiIzoVSG9QOa57urcqZehWuPL7w/EDrdE7jMkEtZ3oQvUDL4tsINJu8zDM9U69H+lxp2oJgB2z/d9DyIybots4GNds0Insh0GQCrNvKZKjxTQdr6++aE1z+AbT+mAnO2lFwk1BXJiXGzIMJN2WCzguZPFFZvaOHYOu/NoP9ZQdMANmdAjdUprAHY89A0zuh8/8wf1POENTfYeo39HVT/+ut80zP6Nk5m9cxBZcrdPLqM+TdHPu3HMG2bBLhFhLh8ifdpDPJC5eeZGCqTJd42ew2zEXQW29r4ba9iWsXXETe9fjsk5eYSOZWqFbXb1d7lEfesgWAO/Ym+MxXu8hk9XCo1qkdSi0L3vwOAruPLmsdnpsn9e1P46XGr11YNi2dC6UWqB1KFWyYe6u15Ss/2ZoOE7mpayxvlU8ZsBzZqybfcttPlvZuldoykxIjP1FsL7PlJ0ywNXbQBJpnBofMT8LUa1B3iwnSjj9vUmK4WZiYFSieecDhpqH/cytTZztiAsuWDy4/bnInz6g/Ch0/Pad8DBL3m/zK+UnT29+yTK/swa/A+HOl5Sutc276mn4mEL/OKbhcIQ+XV/u+x9WJLg533E8i3ErAFyzO9zwms6MMTF3m5NWnyebTi67PcYtP+Zx8ZtXqvUndDixhJIJVUSb5zzwb4iIoHlv+acRnW8TCvpq4gaiPFvfHsiyiIZ9uINYBtUOpZVa0cfnrsH1Y4fqaDS5b9S1Ylo07OQTu+n+1b73SuVBqgdrhhqV7q43EGTRpC+zI/CBysN38zPYvvo7cKIS2mSCcOycVwXKCzrnp1AiscOBaVoblhzrzNj/dv23yD5ez8z9CaKt5SDD6VHH6xAvTweUjJsDqi5jezd6seJgzYH4GmsEXLx2A73qFd5sey8mzpYHlhUT3md7FQ1+H0W9TTJlRfty1iuvsDJnB/wLNZnDM3FDp/NmDC64DCi5fp6HkFZ469wUAooF64uFmnHyGsfQgOXfp3dqvjJ/nS69+Gtv2k8npFasVtgf4+WpX4hrW/UXQme7JBefFIn7aGs0rJk7Opbu//NPvvOsxPL6M16lWUFdvkpvHsyRiAbr7k4xMbIzXVDY6tUOpZbkrpxacZ4Xr8DWYe2YvlyU/eLF8QTeHOzGwGtVbNv/OOwgdfg8ATteLZE8+WeUabV46F0otUDvcsHRvtZEkXzeBv4aHSnMb22FoeND0vrxWAC71hhnULH73dPBtWvOjJqXGtXLfhvdMp8SYE6yrP2J+pruWujeylmKHTUA4fWnhwDKY3N2h90P8rtLg8uTLpn1FbjLBVZif+9tNmVzO8SPQ+gEz8OTcVLO+hHmo4S3xIeRMudBWk+N7Jh2FLwGNj8wv704Hu5veYR7C5IZMD2s3bQLDTn9pnSqtszsJyVMQuxla3ge9f1YsV38UWj+4tP2qEQour4CkM0HSmbju5R03axqpbFbr+iLo9KVJTl8qfxOxd3uM995jnnxPpnJ89dnetazadRmZcPjLb3ZXuxpSIbVDqWX5nlfJ97xadp5v6wF8b/kAAF56kszxz69l1VaGPeu1WluXltWkc6HUArVDqbJ1fW+1ZoafgPg9JrdxoBmSZ8BXZ9IABFqg/4smFcBiRv8nJI6ZQJo/YQY3q7/T5NPNDlx7QL+Oj5ifEz+AbK8Z8KzuMMQOmeDdyLdWZFdlhcXvMj8nfrB4ufHj0PJ+CN9gBrtz+sx0LwuTPzQPJWIHiqky5hr8e5NWI343BLeZByK5EZNGInKjyfvc8wlInV5avdNd4AybXNHb/72pv78R4kcp2xs5ecrkXE7cDy3/bP58Zxj6/wamTl5/nYe/AdH9pnygDVJnTI/l2CFz/OLLS6u3lnQHIFIbdBEkIiIiIiKyfJv33srLl/5cSH4SLv6ayW0cv8cE0DzPpMu48ofzB0orrG/Wep0B6Pk9aP+IGfTM8yBzEbp/y/QEjR5cvA79n4em90DjO4ppNFwHxp6Doa8sIeezrD3LfK9e/trB5dyQSUER3QuxW2C0rzhv7FnTO9eyp3MXl2mvuWHo+s+w5UOmd2+4c9a8CbOOzOw3/mba/gI9mb2MGeSy7cMQ2W3+uQ5MvgiDX4Vdv166bKDF9NLOjUPfn5uezFbAPEiJHjSB346fha7/WExpUWmdU2eh55Pm7zCyy/xzhqH/C6a3d/2dS++ZXWUKLovUjs17ESQiIiIiIrJyNue9VW4Izv7C0gJSuSG4/AnAN53GYsy88l/O5Itw9t+U5sUFk9ai6z+Y1/09B9zpVJ+9nzUDpy1m6qT5Z4dND1I3Y3p5LpTTVmqAB+f+PeAurY31fNx8v3PbVeoMvPmLJn/zQm0OTJu8+oeABf4mkwM5P27yfc/V9zkY+OLi68t0w6VfNzmRffWmx/xMUPrNf1NMlQHQ/H7w18OVz8DUnDcQx58zPaAje8y/iVn5kiupM5j0Ml3/t6mPHTIPeGa8+W/BWx85/hVcFqktm/MiaI5QwObht7QS9Nu8emGcsz1TBAM2997cxN7tMcJBHyMTWZ4+OcTF3tIn2rGIj32ddXRuidAUDxIL+8g4LmNTOcYmHV45P86VwYX/wwkGbN5+RwvhoI++kQzfe3V4SfUD2N4aZldHjM4tEeIxPwOjWfpHMpw8N8bY1Pp44ihFaoeynvg69uNr3oGdaMeOb8HLJHHHe3HH+sj1vIqXGrvmOqxoI4E9d2PXb8GuawafHy81Tn7oErmLL+GOXS2WjSQI7n8rWBZWXXOxHs07CN3x/llr9XDOfx939MoK7q2sJZ0LpRaoHcp12pz3Vl6lecHzxZQFi643s/C8/NzrDG/pPS7dNGSvXruc1AavkpSu3sI90L1cBb1yPfMwZO6gd/O2tUhgebb8+PwB9+bu18zAls5C25zubZ+b/39CoT7XrPPsOk2YfyWrWD85/hVcFqk9m/MiaJZY2Mfe7XUAjCdzXB5M84FjW2lOBAtlWhIhdm+NFW4gfD6Lt97WwqEb6rFtq2R9fp9NLOxna3OYAzvrOX1pgm8d78ct81C8Luxj34766W0Ey95AzK1fV2+St9/Zyv7p5WZ0bonQuSXCoV31fP25vgUHrZHapHYo60IgQui2R/F37CuZbAXC2HVNsPUggT33kHnpa+R731h4NXvuJbD/QSy7tJeRVd+CXd+Cf+ftZF74W/L95wCwmzvxd94ybz12rBE71lgyzZ0cVnB5HdO5UGqB2qEsw6a/txKR65A+b9JatH0YRr9jcornJ0wv/4YHTVqN1AVIna92TWuCgssitUkXQdNsGx69p61w85DLe3ieR8Bvl7whcnBnPbfsjhd+7xtOMzSeZTKVJxbxsbU5TGO9Wcf+HfX0j2Q4cebaPfmuJRSweezYVrY2hwEYTzoMjWVJ1AVorAtgWRbhoI/3P9DBnz1xkcnUNfKfSU1SO5RaZEUbCd/3L7Ejps256QnyAxdwx/qwI/XYTZ34GrdhBcKEj36QzMtPkLt4Yt56fG17CB58GwCemyd3+RTu6FWwbBNY7tiHFYxi17cWgsvuWB9ucgxsG8sXxAqEzPJ5B8+Z1WvE8xRY3kB0LpRaoHYo10H3ViJSmYH/z6SqqLsN2j9cOs9zzYB7A1+kbL7oTUjBZZHapYsgYF9nPX6fhet5PHNyiB+eHcP1YEtjiKxTvIOwLMi7Hq+eH+els2OMTpa+QmJb8OBtLRzekwDgroNNnDw3Ti6/vJxeN3WaXip51+OpEwOculB8lWVne4T33tNO0G/jsy1u39vA0yeX+FqM1BS1Q6lFwYNvKwSWc31vknnxS5ArfWXVv/sooZvfYcrvfyu5nlchX/raX2DfscLnzPEvFALIM7KvfAP/zjtwRy4XpnkTA6T+x++bbew6QuiWd5p6XH6N7A+/tkJ7KLVG50KpBWqHcp10byUiS+dlTe5kfwOEOs1AflgmTUb2ysI5lDcpBZdFatunMCMaPF7tilSL32deY/z2i6UX5/0jpQGUUxfGOdszSSpTPuG968HTJ4e4qbOOSMhHKGDTUBdgcKySnFHl5V2Pf/heLxeuJkumX+xN8f3XR7jvFpOP9MAN9bqBWKfUDqXW2I3b8W89AICbHCXz/S+CO7/nRO78cXzNO03v41CUwI1Hcc48Uyxg2djxNgC8zNS8wLLZQJ7che+vyn7I+qJzodQCtUNZhk1/byUiFcqNKpC8BHa1KyAiC5rpNvEoYC1WcKM71TVecvNQTt5lwZuHGbm8x8Bo8cYjURdYdt1c1+NrZW4eZpzqKtY7GvLhszf1V7muqR1KLQnsva/w2TnzTNnAcmH++eOFz77W3XPmeuBN/3cTjEAgvJLVlA1I50KpBWqHch10byUiskoUXBapTR7moucbwGMUL4Y2nazj8k8vDa7Y+qbSxQBMLOxbpOTSpDJ5uha4eQBIpvPk8sUbm1hk+duUtad2KLXGjrcWPueHLi5a1psqDj5lzRlsD8/DHe838yyb0J2PgT+ISDk6F0otUDuU66B7KxGRVaS0GCK1Z/bFz/uBzOLFNzYn55LNXd/1n8+GaNhPLGxedQSIrsBNQ6Wm0nkSMbP9SMjH+FRuzesgy6N2KDXF9mFFTI5Qz/Pwt+/D8xZun5ZV7KBlherA9oNb/P6dN/4J393/HAD/lhvxPfwLOOePk7v4Q7zM5CrthKxHOhdKLVA7lArp3kpEZJUpuCxSW3Txs0zxmJ9Du+Ic2FlHPLr8VxtXQn7WwDB6B29zUDuU1WRFGwsBY8uyCB56uIKlPbBKX1zL958jc/IbBA89jOXzYwWjBPe/lcBNx8hfPY3z5nO4Y1dXcA9ks9C5UGqB2uGmpnsrEZE1oOCySO3Qxc8y3XFTggdubS7ppQemh0veNRfxgenRuUVWi9qhrDYrWMyL7Hke7ljvkpfN956B/PzBqnJdPyA/2EXwpvvwbT2EZdtYto1/20F8Ww+QO/8C2VPfRm8Sy1LpXCi1QO1wU9O9lYjIGlFwWaQ26OJnmW7ZHefY4RbADKTyyvlxTnVNMDKRxZn16uQjR1o5dEO8WtWUDU7tUNaClxwrfLYsi/Qzn110QL8lr3dykMyJr2Cd+jb+HYcJ7D6KFYphWRaBG+/Gy2Vx3vjusrcjG5/OhVIL1A43Nd1bAeYQ6KGwiKw+BZdFqk8XPyvgyP6Gwudvnxi45gjiIqtB7VDWgpeewMvnsHzmMs6KxPGmRlZu/ZlJnLPP4px/gdDhR/FvvxmAwN77cd58DvLOim1LNiadC6UWqB1uWpv73sryQ8sHIH4U7BgkX4PLn6x2rUQWZkfATVW7FrJMCi6LVNfmvvhZIXURH/GYyaHn5Fxe69LNg6w9tUNZS15yBKu+FQA70UF+BYPLBfkcmRNfxte6y/Rgtm3s+BbckcsLLmLZaz8wltQWnQulFqgdblq6t0o8CI1vg6nXIfk6BFqqXSOR+awAtH4A6u8GXwTyU3D5U5A+X+2ayXVScFmkenTxs0LqZw3O4uRcvAXe/rJtaIjVxkAusvGoHcpayg9cwJ4OLgf23kv+ymurti13ahhfKGZ+KdOwvcxU4bMVrlu1esj6oHOh1AK1w01J91YAdbeBl4ernwE3Xe3aiJTX9G5oeAhyYzD2EgSawZ+odq1kGRRclo0sAwxUadtNwGLdt3Txs4KGxrN4nodlWUTDftqbQvQOlx7SUMDm0Xvb2dYaqVItZaNTO5S1lD3zDP7OW7ECYXyJdoKHHib72lPgueUXsCx8LbvIj12FbPHVQ7upE1/zDpzzx8umu7Aicex4OwCem8cd75tXxksXewTajdshEAZHN7Sblc6FUgvUDleF7q3WA3+j6QWqwLLUssT95uflT0Kmp7p1kRWh4LJsZF8FtlRp26eAgwvM08XPCss6LleHMmxtCQPwz+5r57WuCc72TOG6Hjvbo9y8q57G+mDhRkNkpakdyprKJnHOPkvw4NsBCNx4N3bzTnKXX8WbGMRNjmIFo1iROL7mnfja92KH60mf+DL5nlcLq/E17yB44CECu+/C6X4Zd+ACbnIEbD++xm0E9t6H5Te9+vJXXi87cKA73o/nZLACISyfn/A9P0Gu60Vw89itu8j3vbmqPaultuhcKLVA7XBV6N5qKewIhDohdQ7IQ2gnhLZBthfSF820snymXGgrOCOQuTQ/D60dgdAOSJ8z5esOm4fKUz80+ZUDTWCHAQ/Cu8wymSvgzT4kFgTbILQdvJyZ7/QvsB8LbMvLlc73chDcBuEdkO0rTW0QaIPIbnAGIX3BlC0ntN2sA6bLnmfeYIRztxloh/BOU//0pfLH1gqaZYKtppds6kyZOizh2MvKsfyml7LrKLC8gSi4XAGf5WNH4wHioSYGpi5zZfzchtymrKrauvjZQL55vI+feKSTYMAmFvZzZH8jR/Y3lpTpH81w4swo7zraVqVaykandihryTn3PNg+Ajc9gGX78DV04GvoWHyhbOnNkjs1DIAVihLccw/suafsYu54P5mXv15+nbkMzoXjBG96AMDU47ZHC7O9qZEFb6VlY9K5UGqB2uGmUHv3VrFboOOnoecT0PgwxA4V52X7oef3IDdUukyoEzo+CsF2k37KssDNQN9fwcQL89d95Y+g5X2mPEDPJyF2s8m1PGPHL5ufvX8G48+bz8F26PgZE8idbfJl6PtLyM/KTb7YtpKnivMvf8rkea67pbjsxAm4+sfQ8qPmGMw8vEl3m56q+fFZ+77DrGdm/TPS3XD59yE/Nr9Ol38fEg+YFCAzUm/C5U+DmyxOix6Atn8FgVl/97kxuPI4pLsqO/aycuyZVGvV/3OVlaPgcgXa63dxZPsjANzUcgdfee0PyOZX9w+iGtuUVVN7Fz+rLOO4hd4gGWeBV7XLcPIeruth20tfbmwqx1//jx7uu6WJvdtLc35OpnKc6Z7k2VeGSNQFCnXKlln3UrZdaf1mynieRza39OMgK0Pt0FA7rFFOptAWPKfCXjKeh3PmGXJXTxM69A7sxq1YgfD8Ypkp8oNd5C69TH6gdKCU/JXXyZz4Cv7dR7ET7fN673mZKZxzz+Nc+EHZtBmF3Tj9XcjnCOw7VjKon5fLkh+6WNl+yarQudDQubC61A4NtcMVUdv3Vh0fNYHMnk9CbhQajkHDW2Hrz8Gl3yiWs2Ow/WPgTkH3b5vezXWHTU7a9o9A9qrpSTvblg+ZnrVX/sj0VM72QvYyTP4Qtv6sCZJe/WNTNjP9f7BdB52/DJbPBE6Tr5ltNzwEiXvADkHP787fj3Lbmq39I+AMw+XHTTqOtp+E+jsg8CsQaIX+v4X0m9D4DojfZfZr4PPF5WO3QHYA+r9g9t2yofERaHqHCWr3/eX8OrX/lDm2V//YBOybH50+Zu+EwS+ZMv4m2Prz4GXhyh+adYc6oOlRiB02weXrOfbrWfweE3Dv/xvAMsc5us8co9R5GPuuaavlRPZC3R0mGO85kOmG8efMMZq3jYMw8AWToqX5feBvgInvw8g3ofVD4JsOLlshaPuX5nP6otn+bKGdUHc7hDvNd5W9Ynq/jz3DvF7t19ru3DKeZ/4eo/sB1zxgGf2O+WyFTPuLHjJtI3kWRv6Rsj3jI/tMew9tN73knSHzoGP0O/PLl2w/N739feaNgNR5GPmW+S7Kid1q2mZwqzn+qbMw+j9LHwhV+l2tsJoILsdDzViWxURmBNer3b4tsWC88NmyLEL+6KoHequxTVkVtX3xs0ou9aV4/MsXCPhskpml/21PJHM8/uULBAM26QqWG510+PpzfYQCAzTUBYhFfAyMZplIFl99Gh53+IMvX8C2LdLZ+RfzS9l2pfX7wncuEwn5cHIuTm6BEWVk1agdGmqHtSk/cJ7kE78F/iDMGhivEt7EIOnn/xoAK1SHVd+C5Q/hZZN46Qm85AI3CtNyPa+Q63kFAhHseCtWMIqXTeElR/FS48y7gC9fC5yzz+Kcex4r1ogdSeA5adyxPnAXeAVW1pTOhYbOhdWldmioHS5b7d9bOUPQ8/Fi7uP+vzHBssgu83Mm6Nv0bvBFTG/a1FkzbeL7Zrltv2B6/vb+aem6LRt6fmd+IDA3alINAKTeKJ3X/C6znd4/h/HvTU8chL7PmsHUovtNUGqmDtfaVmE/h838mR7Dg39n6h3cYnpppy+Y6X1/ZQKFsVtKg8vDZd6KGvx7k5M3vHuRbf4euJPm997Pwo3/zQTgZoLLze8FOwiX/8Sk8gDTY3zqlEmvAdd37NezyD4T4J98Gbb8uElNkU+ZYxA9YIKfPb87P01Ky2PQ+E7ANWlU7Lgp3/AQ9P2FOWYl2zgKyTfMNuygme7lTIA2cT/Y04Oo2oFi7mVfojS43PQe89DA8oGbNUHSyC5I3GfqeeUPS3u1L7rdb5aWmToJzT9iUqW4jqlHdJ8JEA9/Hbb9W9N+Z+bFbjbzL3+i9Li0fdjUx3MhN2K2VXcr1N8O8SNw6TcpuYae2f7ky9NvA7TN2sYh0xO/+zfnpG2xzMOU+FHza37KPOSJ7jNvDFz8T5CfvL7vaoVVPbh8Y9Ot3Lnd5At8c+hlTlx+qso1WtjViQvsSt9MXTBB/2Q3E5mRDblNWXG1f/Gzipych5Or/KFRLu+Ry1/fw6aM49I3koEF/lyyOY/FgiVL2XYl9fM8SKZr98HZZqB2qHZY0/LOor2CK+FlJvEyk9cuWI6Twh1aZg8dN483MUh+YnB565FVoXOhzoW1QO1Q7XCZ1se91dgz8wfVm3rZBMjCO4rB5eheUy590fSYnJHuAi8PwTLproa/uXCwdyHRgyZoNV4m1cPEcYjeZPI0zw0uX2tbY0+XpqLIdJufyTPFwDKYFAjOIARallBZz6TO8MfLzx57uhhYBrN9Z9gES2eEbzBByamX5697pr7Xc+w3go6fNr1YZwbTC7RAx8+Zdtn6Y3DlU8WydXdC07tMmpIrnzZBVDAPI7b9oumpPvV66fcBJsCbGzGB/9yY6UWMC+f+vXmYccN/MkHRC//BlHezpdts+RETSL36J6aXPZ75Pjp+FiI3QusHofe/z9+3studo/0jkLlsgr/pLqh/C7T/NCTuNQ8/PMektUm+DpE95kFD7CBE9kPqdHE9dhQGv2aC4jOpXvzN0Pkx0/7qj5i/rXnH/6fMGwDdHzd/b6FOs41wpwmcjz1dLJt4wASWnUG48gfTOap9ps6tHwRfvBhcvt7vaoVUPbhsz3p10mdVvTqLmsiM8M0zf7Hhtykran1c/IiIiIiIiNS29X1v5ZhxDkqCoIE20xNx7yfLLzPTA3M29zp2O9A6HSQu81DDmc4BXS7wW+m23AVe6wcTtLN886eHd0PimAlu+uKmJ6cVrGxQPTdt0iHMKOzvIm8GXM+x3wgyV6Dnt4sPP5xBk2Jk138xPWj9TZCbbqstj5mnYX2fLQYrAZKnzaCV0X2m9+5M7+AZXm46v/j0embyjHvZ0u913ndsQcv7zce+z5n83jOyV02+7V2/boKrw1+fn+phoe3O2//fLT5kmPi+2YfogenlfwecATMvddY8kGl4EGIHSoPLVz8zf925IRMcbnm/6QldLricvQrdv1sM8mYumV7drf+LeQhUCC7bJr0HQO9fzBr8MG/ygU++VJpG43q/qxVS29FckfVv/V78iIiIiIiI1I71fW8105kuP7tHc9700LxSJlAFxcDviigT2J1dr0qCuSul/oh57T/bZ9J1zKQXaP3xZQZ37fKB7BJreexryOhT83vVO/0m6BraanrS5oZNr99gqwk+FwKbs0y9agKWZXvXP1EM8FYi0GpSUuQnTfB0rtywCfhG90F45/zg8lK2O/pUaW97ML19owdMbuKZwPKMzGXzs1wv6HLKPUSabeTb83sPpy/N30agGfz15iHJ3DQ3UBpYXs53tUIUXBZZXev34kdERERERKR2rJ97K8uePy201fyc3ZvSGYTQDkifn5NrdYU5gybHqx2ZH0QOtpuf2f75y622pveY3tHd/7W0Xs3vW15wOTdkApVWcOFB0tbq2K8XzpBpozMBzkCb+elLmN7Cc1nT30+59CX56xtHhECr+ZkdYMFe584AsK9YdiW2OzfYXm6eFZg/z46YByShHSaYbEdMQNgsUMH2p+ttzxqYO7DF/FzKQ47lfFcrpCrB5Wggzs3t92JhUR8qvrrQGtvGXZ3vnlXS4+zgSwyn+gpTAnaII52P4LcDnB9+lZ6xswTsIDe330dnYi8BX5iJzAgnr36X3snS0ckj/hg7Gvazpa6TeLiJkD9GLp9hMjvGZHaM80MnGUxeWbDeATvIndsfJugLMZLq55XeZ8uUmV8/s2/b6Yjvoq1uB7FAnNH0AMOpPs4NnWQqOzZvPdXc5mzbE3vZFt9DPNxELBgn7+aYzIySdObnabkyfo7usTNLWu8msX4ufkRERERERGrX+rq3anqPGVwsOx1fsKMmCOVmITkrr3HytMnPmjhmelSuluTrJnDY8JDp3TnDDptX/t10mfzEayDQZAK7s9Np+JuXHwRLnoWGdjNg3Ozj6m80Qfbk6bU79utFIcA+HRT1Rc1PN2Vy9S5k8sTK1cFXN12XRdKrzAxauVBP/FUzJ9gdPQRb/7V5CJIdMA8r3ClwQ+UXr3QbM8disVQzhbJV+K7mqEpwuTW2lRsaD8ybXhdqoC5U2tV8IjNaElwOB2JsT+wFYCo7weDUZR7c/QES4WJ+oIZIC1sTNxaCyz7Lx21b38quppux5zxB9Nt+woEYLdN1ujhymuPd38Rj/kjB4UAdOxr2AZAIt5QN9M6tX+9EF3due5idjftLym2p62RLXSe7Gm/muUv/QP9kd9ljVY1tAkQD9RztfBdb6raXzvBBJFBXdplIIKbgctGTwK+yXi5+REREREREatP6u7eyw9D5SyabFvUXAAAgAElEQVTVQ3bQBDn9CRj+Vukr8cPfgPi9ZnCuQCukzpievMEtEDsMUydh9DvLr8/wE2awsJYfMa/bJ8+Y4FXifpNruf+LxYHB1lLyLNTdAm0/AePHIdQOTe81A+wtFmC8luEnIX538bhmuk1KgMQD5jtJnl67Y79ezPRYnulZP9Nj1k1D/+fWpg65a6SUgGI9nSr0tJ9hR0xg2fLB5cdLH8zUHzWDJi7XTN7kpaTjqMZ3NUdVgsuj6QGmsuPYlo3fDhDwmch+zs3hzMo/5AHDqd4F12NbNvfufLQQWM67OTw8/HYAzysGh29oPMSNzbcWfh9O9jKWHiLlTBIJ1NES21roQb2zcT8jqT7ODC4/oh/wBTm260dpiZnXX6ay/z97dx4ex3Xee/5XVb13Y18IQiRBUoLERQslWwstiZJtSXZsxbGj66y+SyZ25sk69xnnmZvcuZM7uRPP82TxJE5sT5xtnOs4Y1sTy5ZX2ZEdy1qpiJIoUqJIkQAJLth39FZdVfNHgQ000FgaaKAbwPejBw8bVafqnG4eluq8feo94xpLDyoRqldNuEGGYSgciOjIng/pW6f+Tqkis4ErUachQ3ftel/BOS6OndFUdkzxUJ066vcpEoxL8j/ziYy/emzvRPeq27+J/HalGwAAAAAAm8DGG1sNPe4HM+vf7afIcNPS0Lf97bO5KenCJ6TWX5Dqj0gN7/K3e46UOiel3pop611djK/Ionx5C+xzJqXzfyBt+4gfZK67x1/8yx6ULn9u/ozGpepacL/nn9crcpznzN/e/w+S+cv+QmN1d/tpDYa+7eePTdy2/DZ5TuH23JDU80dS238o/EwnX5GGpxc0K+Wz30zC18zfZiX8BRWlmfQoV3MPB5v8hRad8bVv29W6g9v8Lz3swcL9RkiKXe+/LpZbeL1E9vozlpNn1m7G/9X3Hmr10104i2QfqMTf1RwVCS6PpYf0rVN/K0nqbL5Vt7bfL0nqGX1TL1783rLPs6v+BllmQK7n6viVH+vM4Cvy5Koh2irbKfyWy/UcnRs6odODxzSZHS3YZ8jUofb71Nl8SJJ0cNtdOjt0XM4q8+5cnXHsuI6OXf6BuoZP5Pe1JTp0uONhBa2QTMPS9c236dUrT62qvnLVeV3zoXxgeSjZq6fOfVX2rFViX+97Qe+89sOqj7bIMEwdvfiERlMV/NYIAAAAAIBq4Walvv8uDXzVf2TdXiSHbG5UuvxZSaYfUJOmF7azC8tNviSd+S3JW2QCd9fvLbwvNyRd+pQky6/HGVs41+xSdS20301Jb/1m8RzGPX8iGXPy0OZGpYuf9IObZmzWbFRDGnh0+W3q+eP5585ckM7/t+k8uPX+Qmtzj13uZ7+ZNDwgOUlp+Fsz25p/2p+Fm3xTsqczB7gpafxFqfZ2qeURqffvpblP+Ft1fiqIcuWsdsb8LwASh6SWn5Gu/FVhuo6WRyQr7i9Ql7lQnjpX4mqbwu1+Luar/cWqkxoeLE8duWH/CYPY9VLLT0u9n1f+GmLGpdafk0ae8IPslfi7mmNDL+hnmX7zX7r4z+oaOZnfPjIn0Nk1clIXx84o4xRf/dSTH5zeVX+DwoGoglZYiXC9xtKDRcuXwnEdPXv+m7oyca5ge+/keZ0aeFE3td0tSepo2F+W4HI56mxLdORfv3L5RwWBZUmy3YxevfJj3bf3p2Uapg623qlnzn+jLG0HAAAAAGBTcCcL02AsXnjpR/0XCyxLWnxW86wydt/SxZaqa6H9CwZmnQXj63Im56Tl8IoHwRZs0yLndlNStngsaFahyqZZWE/2iNT8Aan2Tin5uhTeLUX3+LmM586sH/yqFD/gpxgJXePn7s6NSFaNFL1WinZKFz8lpU6Vr32DX5OiN0iJW6SO/80PeHu2FL3en12dG5MG/r/y1bcS6W7/y4pgo7Tjf5Ym/tXP5117hxbuiCsw+Ji08+Mzn3/qLT+4Hr9JsqLSyPdnla3A39UsGzq4LEldwycLAsvFuJ6zYGD5KsfLaTQ1oG01/qMAiVDdqoPLrufq2fPf0JWJrqL7u4ZP5AO9kUBMpmHJLfb4yDrXWR/1V910XEfDyStFzzMyK13J7HzXAAAAAAAAqEJD3/Bncje+11/g0fOkzGWp7+/9oOlsuWGp+/f9WbLxG6XIzln7JqSxZ6TM+VkHTMeWFpsd6zmS585amG+O7BV/xvm2X/SDzPX3TZ86JU28JPX/Y5H84Muod7EyV7cVTeeSK/xT8r/kuPxZadu/k6J7/R/X9mfXDz4u7flEkXpWUH/6nHThD6W2fy+Fd8x8/tle/3OYPXu75L+r8trQwWXbyerly/9StvOlcjMdNBKIr/p8mVxywSCvJKVzSeXcnALTM7CjwYSmsovkUVmnOgNmSJI/o9tbxrcurjd/8UMAAAAAALYUZ8pPtVCJxfGAZfH8lBgj/yyFtvm5fd3kwsWdMenK5yQZUqDRnznrjPv9fK6+f/DTmSyUbkWSnAnprf9J89I2zJYbli79hV9nsMUPul5daLCY5dS7WJmRJ6Sxp/xZ7nNNvuS3d84T/cr0+Dm7rVp/dnC2V/kA8lu/NX8G/2L1Z3unU74UCTxnLkjn/w9/kcvQNv/acnXhw7lK+bsqsw0dXM65WeXcla0gahqWIoGYIsG4gqa/oODsgLIxN1/PGknnppQI+Sthhq2IprS64HI56pzIDKsx1qaAGVRNuFETmfkdtynWnn89mh5Y2wYDAAAAAFDtkielc/+p0q0AluZlSsxb7PkB3sWCvPIWD/Dmiy03juctM13JcupdokyxwHJ+32LB8vH5C+gVfX9L1L+cNDTL/vtazt9VeW3o4HKp4qE67Wk4qI6G/YqHaivdHEmS686e9r4+Ae2l6rwy0aXGWJsk6db2+/R09+MFqTNCVkQ3b78n//vg1KU1aysAAAAAAACA6rRlgss3NL9NN2+/d96M5Jxry5kOtgbMoCzTqkTzqsqp/n/VdU2HFA5E1VazWw91fkQ9Y28qaU+qJlSvjob9igYTkqShqSs6O3S8wi0GAAAAAAAAsN62RHB5b+NNuqX9iCQ/P/DZoePqHjmpicyIcrOSiN++4yHtaTxYqWZWjW01uxQORPO/10YadTByeF65oWSvnr/w7WXlZQYAAAAAAEAFjP3IX9At+UalW4JNaEsEl/e33pF//dKlJ9U1fKKCral+b9/xoCR/VvJrvc+os/mQ6qMtigTimsqOayIzrItjb+n8KBclAAAAAACAqpbu8n+ANVD54LI3M+vVNMqfkiIaTOTzK+dcW93DJ8tex2ZSF2lWJBCTJJ0ffUP9Uz3qn+qpcKsAAAAAAAAAVBuz0g1I55L519FgvOznjwVnFu7LufaCKRxMw1QiVFf2+jea+KzP4Jraa2Ws0yKDAAAAAAAAADaWis9cTuWm8q+bYtsVtMKynUzZzj+eHpTneTIMQ5FATI3RNg2negvKBM2w7t79k2pJ7ChbvRvV4NQluZ4r0zC1raZDP3XwVzUweVEZJyXHtZWb/knZk5rIjGo01S/Hy1W62QAAAAAAAADWWcWDy2OpAdlORkErLMsM6L49j+js8HG5rqNtNbt0ZbxLPWOnV3x+281qKHlFzfF2SdI9uz+grpHXdXHstFzPVVtNh/Y23qSacEM+CL2VZZ20nun+hg53vE8BM6iQFdY1ddcuWD6TS+vM4DGdGnhRrueuY0sBAAAAAAAAVFLFg8u2m9WZwVd0YNudkqTG2DY1xh7M75/MjK26jhd6vquHOj+ioBVSJBjX/tbbtb/19oIyI6l+nR44pjt3vXfV9W10SXtctpNVwAzKcXOayIzINCxZZkCWGVDQDMsy/fzY4UBEN7a9Q4lwvY72PFHhlgMAAAAAAABYLxUPLkvSyb7n5Hg5HWi9Kx+0lCTbyWpgzmJyjmvn0zbYTnZZ55/Kjun7Z76om7ffox11nQX7UvakLoy+qdd6n1EiVJ+fvVwsNcdy6i61fbbr1+N5nnKuXfE6o8GE7t/7bxQORJVzbT3V9ZgGpy4VlDENS82xdrXXXavrm2+VJO1uOKCu4ZMamLq4ZP0AAAAAAAAANr6qCC578vRG/1G9OfCSEqF6xUI1yjppjaUG5HhOQdmkPaHHTnxGQSusTC617Doms6N69vw3FTTDSoTrFQ3GNZoaUNKeyJcZzwzpsZOflWmYyjrpeedYTt2ltu8Hb305H8gtFlxe7zpv3PYOhQNRSdKrl5+aF1iWJNdz1D/Vo/6pHoWtqDoa9kmSmuPtBJcBAAAAAACALaIqgstXuZ6j8cyQxjNDi5ZzvJyc3MoWkbPdjEZSfRpZIAabcxef+bucuktpnydP6VyyaurcXrsn//r86BtLnitpj+dfm4a1SEmUlaEeyXu00s3A5uJ5em7ZhemDWAMl9UFJXs7tUcCkH6KsjBL7IddDrAX+n4xKK/X/yRue6/bI5J4CZWZ4W+vfEbYsQ5K+9PInP2yYxlcq3RhU3ocO/rqCVkiS9K1Tf6ep7MI5rw0Zevd1P6/G2DZJ0lNdj6l3ons9mjmPJ+/Rn7vl4z9TkcoBAAAAAABWyDv1Kx+WIeJy2JDMSjcA1WU41Zt/fceOhxQNJoqWiwYTunPXT+QDyxOZEQ1MkhIDAAAAAAAA2CqqKi0GKu9k3/NqjrXLMgNqSezQw/s+qpFUnyazY8o6aYWtqGKhGjVEW/NpMGwnq2e6H5fjrSxVCQAAAAAAAICNh+AyCgxOXdLT3V/XzdvvVUO0VYZhqDHWpsZY27yyrufqwuibeqP/BU1kRirQWgAAAAAAAACVQnAZ8/RNXtD3z3xRjdFtak3sUjSYUDQYV8iKKGVPaSo7pqQ9rv7JHk0ukpMZAAAAAAAAwOZFcBkLGk71aTjVV+lmAAAAAAAAAKhCLOgHAAAAAAAAACgZwWUAAAAAAAAAQMkILgMAAAAAAAAASkZwGQAAAAAAAABQMoLLAAAAAAAAAICSEVwGAAAAAAAAAJSM4DIAAAAAAAAAoGQElwEAAAAAAAAAJQtUugEASveH/3BmRyCgw5VuBzYZQz0f/9nO55dTlD6INVFCH5Toh1gjJfbDoX/6rztCAZN+iLLycm5P7SO/z/+TUTklXgs3Ou/4R3coxLUcZea6PcaBv9ky/46wdRFcBjagQECHTdP4SqXbgc3Ge1TSzyynJH0Qa2P5fVCiH2KtlNYPQwHzsCGTfojyCpj8PxkVVtq1cMMLmYdliH9HKC9z+ddyYCMjLQYAAAAAAAAAoGTMXC7i1vZ3qj7SrHQuqRcvfk851650kwAAAAAAAACgqjBzuYiOhn1qSezQzvrrFQnEKt0cAAAAAAAAAKg6BJcBAAAAAAAAACUjLUYVqA03yTAMTWRG5HpOpZsDAAAAAAAAAEsiuFxh1zberLfteLck6a2hV3Xs0g8q3CIAAAAAAAAAWBppMSrMNK38a8sg1g8AAAAAAABgYyC4DAAAAAAAAAAoGcFlAAAAAAAAAEDJtlwehmgwoY76/WqKtakx1ibXczQwdUl9Exd0fvSN0s4ViGtX/T61JnaqNtKocCCunJPRZHZMk9kxnRs6rsHk5XnHxYK1urHtHTJkqCbckN/eEr9Gd+78iVklPZ0ZfFnDqb6y1Q0AAAAAAAAA5bClgstNse26u+MnFQnGC7bHQ3Xa3XBAO+o6dbTnu0uexzIsHWq/X3sab5RpFE7+DpgBRYJxNcfbtbthv86PnNLRnifkyc2XaZneN1ciXK9EuL5g20RmtCC4vNq6AQAAAAAAAKActkxwuS3Robt3f0CWOfOWx9PDmsiMqD7aonioVtfUXasHIr+45MJ6uxsO6tqmm/O/Dyd7NZYeUsqeVDSYUHO8PT8juaNhn0ZSfTo9eCxffjQ9oKnsuEzDVMAMKmiFJUk5NyfbSefLeZKGU71lrRsAAAAAAAAAymHLBJdv3n4kH1ieyo7rR+f+SZPZ0fz+PQ0Hdds171bNnJnDklH0fK7n6NzQCZ0ePFZwHv8IU4fa71Nn8yFJ0sFtd+ns0HE5Xk6SNJYe0rdO/a0kqbP5Vt3afr8kqWf0Tb148XtLvpfV1A0AAAAAAAAA5bAlgsttNbtVH22WJNlOVk91fXVeULZr5KRSuSnd3fGTBbObi+kaOamLY2eUcVJF93tydfzKj7Wr/gaFA1EFrbAS4XqNpQdX/V4qWTcAAAAAAAAAXGUuXWTj62w6lH99ceyMJjIjRcv1TnTr6e6vy/UWz1Hses6Cwd2rHC+n0dRA/vdEqK6EFldn3QAAAAAAAABw1ZYILtdGGvOvL4y+uWjZvskLyrnZWVu8Fdebyk3mX0cC8UVKll8l6wYAAAAAAJtE/Gbpuk9JNXcsr/yO/yjt+t21bROAqrHp02IYMhQN1uR/H1+j9BCmYSkSiCkSjCto+gv0zQ7qGkbx3M0bvW4s6D2Snqh0IwAAAABgg2NstVxGWOr4z5IZnb/Pc6ULn5CcidLPa0amf4qct5hAk2TFSqsjtl/a/lHJCEiDj0ujT5beTgAVsemDy5FgXKbhT9D2PE/pXLJs546H6rSn4aA6GvYrHqot23mrvW4syyclXSfpM5VuCAAAAABsYIytlitQJ4XapNyYlHprzk5X8uyKNGtpltT685IRksyQ/z4AbBibPrgctma+WfOm/yuHG5rfppu33ztvVnDOteW4jiQpYAZlmVZZ6quWurFshqRPT7/mJggAAAAAVoaxVanS3dKVv6p0K5av8UEp2CoNfV1q/mClWwOgRJs+uDx7prJpmApaYdlOZlXn3Nt4k25pPyJJcj1XZ4eOq3vkpCYyI8q5M98E3r7jIe1pPLiquqqpbqwIN0EAAAAAsHqMrcrOkELbpPAOyctJmcuS3V/aKcyoFNktmTEpfVbKjZZ2fKBeanyfNP68lDpb2rEAqsIWCC5PyfXcfGqMaCCx6uDy/taZJPYvXXpSXcMnVnW+jVI3VoybIAAAAABYPcZW5RJqk7Z/zA8szzb5qtT3heXlZo7f5OdJNiP+754rDT4mf7L5MrX8m+njvuq3CcCGs+mDy5KUsifzeYm31+7W+MDQgmUjgZgsY+GPJRpM5M+Vc211D59cXeO8mTQdprF4Gouy1431xE0QAAAAAKweY6vVMhPSzt+RDEvq+6KUfF0y41L9O6W6w5IZli7+6eLnCDRJ7b8quVnpyt9J2ctS4lY/rYVhSc7k0u2I3iDV3C71Pyo545IILgMb0ZYILl8eP6fO5kOSpJ111+vNgZeKlguYQd2750OyzNkfS+E3brHgzOJ5OddeMIezaZhKhJZOQj87bUc0GF+0bLnrxrrjJggAAAAAVo+x1WLCO6Vt/7Zwmz0oDX/Hf930XsmKSr1/L40/O11gUOr7vBRskmL7pGinlDqzcB0ND/hB5IEvSxMv+NsyPf7P9o9p6dnLptT6c34qjtEflP4eAVQNs9INWA9nh47nXzfG2nRz2z3zykSDCb1z74fVEG1d9Fzj6UF507ONI4GYGqPzv1kLmmEd2fPTaknsmLdvrlRuKv+6KbZdQSu8bnWjIj4t6dcr3QgAAAAA2OAYWy0kUOfPIp79Ezswsz92wM+xPP7C/GMnjvp/RvYsXkdkj5/OYmLO5L3JlyV7SFpgMlxe/TulcLvU/yVJ7lLvCEAV2xIzl8czQ+qdOK+2mg5J0r7W21UfbdGViW4lsxNqim/XtY03K2iFlM2lNZkdVWOs+OMYtpvVUPKKmuPtkqR7dn9AXSOv6+LYabmeq7aaDu1tvEk14QZ5nifDWPzburHUgGwno6AVlmUGdN+eR3R2+Lhc19G2ml26Mt6lnrHTa1I3KoZv2auYZRnatyuhxtqQLg2kdO5ycumDgDKjH6LS6IMA4ON6WPUYWxUzdUK6/NmF9wdbphfec+bvs6fTiAabF68j2OTnZfaypbfPqpGaftIPTKfeLP14AFVlSwSXJenZ89/UPbs/oNbETklSW81utdXsLigzlh7SM91f1/XNb5sVXJ7/bdsLPd/VQ50fUdAKKRKMa3/r7drfentBmZFUv04PHNOdu967aLtsN6szg6/owLY7JUmNsW1qjD2Y3z+ZGVuzulFRm+Ym6P5DzTrUubo0LI7r6fPfuaCJZK5MrVq5PW0xPfh2/wmG2zrr9JePdyuT5Zv0akc/RKXRB1HtQjc+pODeO5YuuAjPdZR68jPyUuNlahU2I66HqIBNM7ZaXwus+XR1DSo3tcTxhmSs8GH4mtv9tBzBZuma35zZbk6nCq15mxS+Rhr5gZRkrSmg2m2Z4HLOzeqprsd0qP0+ba/Zk18YT5ImMqPqnejSa73PKOfast2MJMn1XDnu/BuaqeyYvn/mi7p5+z3aUddZsC9lT+rC6Jt6rfcZJUL1+RnEtpNZsG0n+56T4+V0oPUuWebMBd52shqY6lnTuje5WyV9tEJ1b19GmU1xE1QbX/1lxDINxSNWVQwgamIz78cwDMXCFgOIDYB+iEqjD6LaGbGG1Z/DtGREaqo2uGzUNMswTLmTQ5JbZDYe1gXXw02LsdVmYg9KoW2SGZ0fRA5NT7TL9i9+jtyoHwA245I7VbhvqaBzblRK90gyJWvWl1HmdJpQI+RvNyNLvhUAlbdlgsuS5HqOjl3yE8VHA3HVRVs0lh5Uyi5cxfS13md0euCYHC+nnGsXPddkdlTPnv+mgmZYiXC9osG4RlMDStoT+TLjmSE9dvKzMg1TWSe9YLs8eXqj/6jeHHhJiVC9YqEaZZ20xlIDcrz5N8blrHuTu07Sr1W6EUvY8DdBp3sWXgU4Hg1oW4N/g2DnXPX0F//223E9DY+v4HGqNdDdm9SN41nVxYPq6U9qZKL4NQDVhX6ISqMPotrlLi8888uIJGTV+7EbL5eVM3i+eEE3J3diYC2at2qBjtsUvuV9kiS7+yVlj3+nwi3aurgeblqMrTaT5Bt+vuP6d0rD357Zbkak+vskNy1Nvbr4OVJvSpGdUu1d0uiTM9ubHvZnJDtTCx87ecz/mSt6vbTz49L4c9LgV0t7TwAqZksFl2dL5aaUmlj4YpdxlnoExGe7GY2k+jSyQPGcu/ybItdzNJ4Z0nhmaN3rRkVt6JugUxcmdepC8UFE54643n/Y/+Z7MpXT48/0rmfTVmRkwtYXnuhZuiCqCv0QlUYfRLVzLp6Qc/FE0X1W+35Zb39EkuSlJ5U5+uX1bFp5zHr6T+aWHeJUBa6HqLANPbZaN8PflmoPS80/5edOTp6WrIRUd48fGO5/VHIW/qJIkjT6L1LdEanlEX8BwcxFP51FbL+UHZCs2Lq8FQCVx50XUB24CQIAAACA1du6Y6urTz4XeQK6gDMpnf8DadtH/CBz3T2S5/npMi5/bv6s4vz5Zp3XHpAu/pnU9ktS43v84zPnpZ4/khoelGIHVtB+d3ntB1BVCC4D1WPr3gQBAAAAQPlszbFVbkg68xuSt4x85bkh6dKnJFnTaSzG/HQYxUy+JJ35Lcmbs55T+qzU/V/8/MieLblJf3vv5yVjgQUDF5N+q3g9AKoawWWgumzNm6A5wkFTD7y9RaGAqRNd4zpzcUqhoKl33Niozh1xRUKWRiay+vHxIZ3vLcwLE49aumFnQjtbo2qsDSkesZSxXY1N5TQ2aeu1c+O6PLhwHvJQ0NS7b2tWJGSpbySjZ08ML6t9krSjJaI92+Pa2RpVbTyggdGs+kcyOn52TGNTlV+QBqWhH6LS6IPYaKzt+2Q17ZJZ1yaztlVeJil3vFfuWJ9yF0/IS40teQ4j1qDgdXfJrGmVmWiSrIC81LicoQvKnX9Z7tiVmbLROoX23S8ZhoxE00w7mnYpfNsHZ53Vk33uRbmjl8v4brGeuB5ihbbm2MorNS+4I9l9yzjvIgFfZ+713VtegLvUegBUJYLLQPXZmjdBs8Qjljp3JCRJ48mcLg2m9ciRdjXVhfJlmuvC2tsezw8gLMvQ/YeadXB3jUzTKDhfwDIVjwTU3hTR/o4anbowoe8d7Zfrza87EbF0w66a6TpCRQcQc9vX3ZvUu9/Won3Tx121szWqna1RHdxTo28917fgojWoTvRDVBp9EBtGMKrwoYcV2H5DwWYjGJGZaJTaDyh43WFlXv6GnN43Fz7Nde9QcN99MszC2W5GTbPMmmYFOm5V5oUvyek/K0kym3YqsPOmeecx4w0y4w0F29zJYYLLGxjXQ6zClh9bAcBaMyvdAABFfVrSr1e6EdXANKWHD2/LDx5yjic75+fiupqSS5IOdNTopr21+cFD33Bar3eP6+gbIzrZPa6RiZkFLvftqtGhzrqytC8cNPWhI+35wcN40lbXlSkNT2Tlef4IJRKy9MF7tysRXcGjYagK9ENUGn0Q1cqINSh6/8fygWU3PSG757gyJ74v++zzckYu+eWCEUXu+LACHbcVPY+17TqFDrxLhmnJcx3/HK894Z/n/MvyskkZhiGzpiV/jDvWJzc5Jjc9Ic+emenmObbc9MTMT2qcwPImwvUQK8DYCgDWEDOXgerFt+ySbthZo4BlyPU8PX18SK+cGZPrSa0NYWXtmRGEYUiO6+nEuXG9fGZMo5OFj4OZhnTfoWbdcp0/cLjzQKOOnx1XzikyRaUE1+/0Z6k4rqcfHBvQya6J/L6Otqjef7hNoYApyzR0a2e9fnx8aFX1oTLoh6g0+iCqVejAu2RGayVJub63lHnpMSlX+EhzYO8dCt/4kF9+3/3KXTwhOdmCMsEbjuRfZ45+JT87+arsa99VoOM2udPBaknyJgaU+ue/8OvYc7vCN73Hb8el15V95RtleoeoNlwPsUKMrQBgjTBzGahun5b0a5VuRCUFLH+2yZMvDejY6bH844r9I5mCQcLJrnH9zTe79cOXB+cNHiTJ9aQfHx9SKuOvPBwOmqpPBMvSRsf19M1newsGD5J0vjelF98Yyf++f3fN3EOxQdAPUWn0QVQjs4myCVMAACAASURBVGGHAu37JUluclSZFx+dF1iWpNy5o8pd8dNhGOGYgtfeUVjAMGXWbpMkeZmpeYFlvwJHuS7yJoPrIVZly4+tAGAtEFwGqtfVaRMPSzIWK7jZnewen3dzPpfjSqmMu2iZnONpYHRm0FtXhgGE63r6xrO96rqSLLr/ZPdMu2NhS5a5pf8qNzT6ISqNPohqE+y8O//aPv205DoLlrXPHc2/tlr2ztnrSdPpAhSKSsFIOZuJTYjrIVaAsRUArBGCy0B18uTf9HxX0oc0czO05WRtVz96ebBs55tKzwx845HV57lLZRx1LzB4kKRk2lHOmRnYxMmttyHRD1Fp9EFUI7N2Jv+xM3R+0bLe1MwiaMacxfbkeXLH+/19hqnw2z4kBUICiuF6iBVgbAUAa4icy0D1mX3z80FJ858v3ULsnKtsbmX3f5YpxSIBxSOWwkH/u7RYGQYNpZpKO6qL+/VHw5bGp3Lr3gasDv0QlUYfRNUxLRlRP1et53kKtN2QX6ysGMOYmShohBOSGZDcmT5gv/kjWXf9vCQp0HqtrAd+Q/a5o8qdf0VeZnKN3gQ2Iq6HKBFjKwBYYwSXgerCzc8q1cYDOrinVvs7EqqNlSdv3mo5sxaG4Rm8rYF+iEqjD2KtGbGGfMDYMAyFDj5QwtGeZBQ+QOn0n1Xm+HcVOviADCsgIxRTaN/9Cl5/RM6VU7Lfek7u2JUyvgNsFVwPtzTGVgCwDgguA9WDm59Vuu36Ot17c1PB7CjJn+HiTK/2EpxenRtYK/RDVBp9EOvBCM3kRfY8T+5Y77KPdXpPS0523vZc97/KGexW6Pq7ZbUflGGaMkxTgWsOyGrfr9y5F5Q9+aR4oh3LxfVwS2NsBQDrhOAyUB24+Vmlm/bW6sgtzZL8hVReOzeuk90TGpnIyp716OSDt7fo4O7aSjUTmxz9EJVGH8R68ZJj+deGYSj99OcXXdBv2eedHFTm2NdlnHxSgV23KLj3DhnhuAzDUPDau+TlsrLffGrV9WDz43q4pTG2kuR/BHwZB2DtEVwGKo+bnzK4fV99/vWTxwaWXEEcWAv0Q1QafRDrxUtPyHNyMix/OGFEa+VNjZTv/JlJ2WeekX3uBYVveViBHTdKkoKd98h+6znJsctWFzYnrodb1tYeWxkBqfkRqfYOyYxLydelS39e6VYB2OTMpYsAWENb++anTBJRS7VxP4eenXP1ejeDB6w/+iEqjT6I9eYlZ4LJZt32tanEySlz7GvyMlOSJMM0Zda2LnqIYa7/Am2oLlwPtyzGVnX3SQ3vktI90uBjkj1U6RYB2AKYuQxUDjc/ZVIza3EWO+dqocXqTVOqj1fHQi7YfOiHqDT6INabM9Als6ZFkhTsfIecy6+vWV3u1LCscNz/pUjnvhp8liQjklizdmBj4Hq4JTG2kqTEIclzpCt/KbnpSrcGwBZBcBmbWUbSQIXqbpS02LQZbn7KaGg8K8/zZBiGYpGA2hrD6h0u/EjDQVMPv6NN17REK9RKbHb0Q1QafRDrLXv6aQV23iwjGJFV16bQwQeUff0HkucWP8AwZDXvkTN2Rcqm8pvNxp2ymnbJPne0aLoLI1ors7ZNkuS5jtzxvnllvPTMzFSzYYcUjEg2gZWtiuvhmmBstREEGiRnisAygHVFcBmb2eOSFn9ucu2clHRggX3c/JRZ1nZ1ZSij9mZ/5fqfvLtNr3dP6MzFKbmup462mG7cU6OGmlB+oAGUG/0QlUYfxLrLJmWfeUahA++WJAWvvUtmU4dyl07ImxiUmxyVEYrJiNbKauqQ1dYpM1Kj9LGvybl4In8aq2mXQvvfqeDeO2X3vCp3oEtuckQyA7IarlGw824ZAX92qXP5jaILB7rj/fLsjIxgWIYVUOTwLyrX/ZLkOjJb9sjpe2tNZ1ajunA9XBOMrZbDjErhnVLqrCRHCndI4WukbK+UPu9vK8ryy4XbJXtEylyQ3FRhETMqhXdJ6bN++cQt/pd5U6/4+ZWDjZIZkeRJkT3+MZnLkjf7IzGk0DYpvEPycv5+u3+B97FAXV6ucL+Xk0LXSJFdUrZPSp+bOU9wmxTdK9mDUrrLL1tMeId/Dmm67DnNW4xwbp3BNinS4bc/faH4Z2uE/GNCLVJuTEqdLtKGZXz2ABZFcBlYX9V187OJPHG0T7/44E6FgqbikYBu39eg2/c1FJTpH83o2OlRvfeObRVqJTY7+iEqjT6I9WaffV4yLQWvv1eGacmq3y6rfon8y9nCQbs7NSxJMsIxha47LF13uOhh7ni/Mq9+q/g5cxnZXUcVuv5eSfLbcejh/G5vamTBkA42J66HW0L1ja3iN0nbf1m6+Cmp4QEpfnBmX7ZfuvhnUm5OHuTwTmn7R6VQm5/2xzAkNyP1fVGaeGH+uS//ldT8Ab+8JF38cyl+o59r+apdv+P/2fv/SOPP+69DbdL2j/mB3NkmX5X6viA5s3KTL1ZX8uTM/kuf9vM8J26aOXbimHTlr6Xmn/Y/g6tf3qR7/MUFnfFZ732Xf56r578q3SNd+gvJGZvfpkt/IdXd66cAuSr1lnTpM5KbnNkW2y9t+/dScNa/+9yYdPmzUrq7tM8ewKIILgPrp/puftZYxnbzs0Ey9gKPyBZhO55c15NpLv+4samc/vGfL+rumxrVuaMw1+JkKqfTPZN65rUh1SWC+TZli5x7OXWX2r6rZTzPUza3/M8B5UE/9NEPK4c+6KMPVjE7k+8Pnl3ibC3Pk336aeWunFL44EMyG9plBCPzi2Wm5Ax2K3fhVTkD5wr2OZffUObY1xXYe4fMurZ5s0i9zJTss8/L7vrXomkz8m/j1FOSk1PwhiMFi/p5uaycofOlvS+sCa6HPq6HZVHdY6vtH/UDmRf/XMqNSvVHpPr7pfb/Ubrwf86UM+PSjo9L7pTU8yf+7ObELVLjT0htvyRlr/gzaWdr/Tl/Zu3lv/JnKmd7pewlafIVqf1X/CDplb/2y2amr31mQtr5O5Jh+YHT5Ot+3fXvlOoOS2ZYuvin899Hsbpma/slyR6WLn3WT8ex7SNSzW1S8HelYIvU/yUp/ZbU8JBUe6f/vga+PHN8/CYpOyD1f8V/74YpNTwoNT7kB7X7vjC/TW3/g//ZXvlrP2Df9PD0Z/YefxFDSQo0Su2/JnlZ6fLn/HOHt0uND0vxW/zg8ko+ewBFEVwG1kd13/yskQt9KX32a10KWqaSmeXPF5pI5vTZr3UpFDSVLuG40Ulb33quT+HggOoTQcWjlgZGs5pIzjz6NDxu6//+WpdM01A6O/9mfjl1l9q+r/zwkqJhS3bOlZ1bYEUZrBn6oY9+WDn0QR99sHo5A+eU/PYfSYGQNGthvFJ4E4NKP/+PkiQjnJBR0ywjEJaXTcpLT8hLji56fO7ia8pdfE0KRmXWtsgIxeRlU/KSo/JS45r3eHTxVsg+84zss8/LiDfIjNbJs9Nyx/okd4FHsbGuuB76uB6uWvWPrewh6eInZ3If9/+/foqM6B7/z6tB38afkKyoP5s2dcbfNvGif9w1v+HP/O39u8JzG6Z08f/yg9az5UYld/oLuNSbhfua3uvX0/v30viz0xsHpb7PS8EmKbZPinbOtGGpuvLvc9jff3XG8OA/+e0OtfqztNNd/va+L0qJW/1g8uzg8nCRp1EGvyrV3SNF9i5S559J7qT/e+/npWv/WIrfPBNcbnq/ZIakS3/rp/KQ/BnjUyf99BrSyj57AEURXAbWXvXf/KwhO+fJzpX+IGrO8ZRzVvYAa8Z21TeSkUaK78/mPC02SF1O3aW0z/OkZJqHcSuJfkg/rDT6IH2w6jn2orOCS+FlJuVlJld2sJ2SO7TKmWKuI29iUM7E4OrOgzXB9ZDr4SptjLHV2NPzF9WbetUPLkd2zQSXY51+ufR5yQjPlE13S54jhYqkGRp+YuFg70JiB/xcw+NFUj1MHJVi1/t5mucGl5eqa+zHhakoMj3+n8nTM4Flyc/7bA9KweZlNNbzU2cEahepc9b/Y9ykH3AO1M1si+yW3Kz/mc8999X2ruSzB1AUwWVgbW2Mmx8AAAAAqG4be2xl+/nlC4KgwW1+uonOPy9+jBmav81dwdsOtkwHiYt8qWFP54AuFvgttS43u/A+z/bTcswV2SvVHfGD7latZAb9hfhKWVTPTUuBWbmV8+93kScDVvLZAyiK4DKwtjbuzQ8AAAAAVI+NPbYypsMvzuwZzY6fq/jyXxY/xh4qvn1FigR2Z7erlGBuudTc7udQzvb56TpyI/4M65afXWVw1yweyC6wnp89sLkRXAbW1sa9+QEAAACA6rFxxlaGOX9buN3/MzcraGkPSuFdUvqcH1RdK/agFNrm5xueG0QOtfl/ZvvXrv6FNL7Pnx3d84eF7Wr6wOqCy7khf/ayEfIX9StmvT57YAsocsUDUCYb5+YHAAAAAKrXxhpbNb5PCrXP/G7G/Fm6blZKzsprnDzlB6Lrjqxte5Jv+DN5699ZuN2MSPX3+Wkl5uUnXgfBRklOYTqNQNPC+ZaXK3nGf7919xRuDzT4ixdK6/fZA1sAM5eBtfEdSf+rNsrNDwAAAABUp403tjIj0s7f9lM9ZAf9IGegThr+XuFidMPflWrfIbV82J9pmzrtz+QNtUrxW6Sp49LoD1ffnuFvS7WHpeafkoJN/oJ7VsJvV7BZ6n9Ucla4EOtqJM9IiZukbb8ojR+Vwm1S4/v9BfYWmnG8HMPfkWrvmvlcMz3+An119/p/J8lT6/fZA1sAwWVgbfx2pRsAAAAAAJvAxhtbDT3uBzPr3+3PjnXT0tC3/e2zuSnpwiek1l+Q6o9IDe/yt3uOlDonpd6aKetdXYyvyKJ8eQvscyal838gbfuIH2Suu0fyPD81xOXPSZPHCssvVdeC+z3/vF6R4zxn/vb+f5DMX5bq7vZ/nCn/cwq1SInblt8mzyncnhuSev5IavsPhZ/p5CvS8BP+76V89gAWRXAZAAAAAACgXNys1PffpYGvSlZMsgckecXL5kaly5+VZPqziKXphe3swnKTL0lnfkvyFpnA3fV7C+/LDUmXPiXJ8utxxvygdzFL1bXQfjclvfWbxXMY9/yJZBhz2jQqXfykP4vajEn21bzPhjTw6PLb1PPH88+duSCd/29+nulAvWQPzz92uZ89gEURXAYAAAAAACg3d7IwDcbihWcFVxewWGBZ0uKzmmeVsfuWLrZUXQvtXzAw6ywYX5czOScth1c8QL1gmxY5t5uSsqkFduYLLf3ZA1gQC/oBAAAAAAAAAEpGcBkAAAAAAGC1nCk/1UIlFscDgAohLQYAAAAAAMBqJU9K5/5TpVsBAOuKmcsAAAAAAAAAgJIRXAYAAAAAAAAAlIzgMgAAAAAAAACgZASXAQAAAAAAAAAlI7gMAAAAAAAAACgZwWUAAAAAAAAAQMkILgMAAAAAAAAASkZwGQAAAAAAAABQMoLLAAAAAAAAAICSEVwGAAAAAAAAAJSM4DIAAAAAAAAAoGSBSjcAwAoY6pG8RyvdDGwunqfnll2YPog1UFIflOiHWBOl9kMv5/YoYNIPUVYG/09GhZX8/+SNznV7ZHItR5kZ3tb6d4Qty5CkL738yQ8bpvGVSjcGWClP3qM/d8vHf6bS7QAAAAAAACiFd+pXPixDxOWwIZEWAwAAAAAAAABQMoLLAAAAAAAAAICSEVwGAAAAAAAAAJSM4DIAAAAAAAAAoGQElwEAAAAAAAAAJSO4DAAAAAAAAAAoGcFlAAAAAAAAAEDJCC4DAAAAAAAAAEpGcBkAAAAAAAAAUDKCywAAAAAAAACAkhFcBgAAAAAAAACUjOAyAAAAAAAAAKBkBJcBAAAAAAAAACULVLoBAEr3h/9wZkcgoMOVbgc2GUM9H//ZzueXU5Q+iDVRQh+U6IdYI/RDVIMS+uHQP/3XHaGASR9EWXk5t6f2kd9f9rVwo/OOf3SHQvw7Qpm5bo9x4G+2zL8jbF0El4ENKBDQYdM0vlLpdmCz8R6V9DPLKUkfxNpYfh+U6IdYK/RDVIPl98NQwDxsyKQPorwCZknXwg0vZB6WIf4dobzMLfbvCFsWaTEAAAAAAAAAACUjuAwAAAAAAAAAKBnBZQAAAAAAAABAyQguAwAAAAAAAABKRnAZAAAAAAAAAFAygssAAAAAAAAAgJIRXAYAAAAAAAAAlIzgMgAAAAAAAACgZASXAQAAAAAAAAAlI7gMAAAAAAAAACgZwWUAAAAAAAAAQMkILgMAAAAAAAAASkZwGQAAAAAAAABQMoLLAAAAAAAAAICSEVwGAAAAAAAAAJSM4DIAAAAAAACKi98sXfcpqeaO5ZXf8R+lXb+7tm0CUDUClW4AAAAAAAAAVskISx3/WTKj8/d5rnThE5IzUfp5zcj0T5HzFhNokqzYEmXqpR2/LZmh+fucpHT+fy+5mQAqg+AysHbeI+mJSjcCAAAAADY4xlbLEaiTQm1SbkxKvTVnpyt5dkWaVZRVJ4VapMwlyR4u3OdMVqZNAFaE4DKwdj4p6TpJn6l0QwAAAABgA2NsVYp0t3TlryrdiuUZ/aE09uNKtwLAKhBcBtaOIenT06+5CQIAAACAlWFstSYMKbRNCu+QvJyUuSzZ/aWdwoxKkd2SGZPSZ6Xc6Jq0FED1IrgMrD1uggAAAABg9RhblUuoTdr+MT+wPNvkq1LfF5aXmzl+k7T9o34+ZsnP6zz4mPzvAgBsFQSXgfXBTRAAAAAArB5jq9UyE9LO35EMS+r7opR8XTLjUv07pbrDkhmWLv7p4ucINEntvyq5WenK30nZy1LiVqn5g/55l5s3OXq9H5x2M5I94Kf0cFOrfosA1g/BZWD9cBMEAAAAAKvH2Gox4Z3Stn9buM0elIa/479ueq9kRaXev5fGn50uMCj1fV4KNkmxfVK0U0qdWbiOhgf8IPLAl6WJF/xtmR7/Z/vHtOTsZS/r/1l7h6Q7ZrY7U9Lg16Sxp5b3XgFUHMFlYH1xEwQAAAAAq8fYaiGBOn8W8WyZSzPB5dgBP8fy+Avzj504KsWulyJ7Fg8uR/b4aTAmXircPvmyZA9JVmzxNmavSGf/F8nL+G2x6qTETVLTB6XWX/CD4cnXl36vACqO4DKw/rgJqmKWZWjfroQaa0O6NJDSucvJSjcJWxD9EJVGH0Q1oB8CWAbGVsVMnZAuf3bh/cGW6YX3nPn77KHpMs2L1xFs8vMyX52BvBLO2Mzr3JA0+i+Sa0tt/06qu4fgMrBBEFwGKmPT3ATdf6hZhzrrVnUOx/X0+e9c0EQyV6ZWrdyetpgefHurJOm2zjr95ePdymTdCrcKS6EfotLog6gG9ENUu9CNDym4946lCy7Ccx2lnvyMvNR4mVqFTWDTjK3Wl1V8szEdJloy77EhGWZZWyRpZrZ0sLX85wawJtbgSgBgmT4t6dcr3YjVqo2v/jsqyzQUjyxwc7POamIz78cwDMXC1dEuLI5+iEqjD6Ia0A9R7YxYw+rPYVoyIjVlaM3aMGqaZda2Sib9dZ1tirHVurEHpUCtZEbn7wu1+X9m+xc/R25UMmP+QoBzrSboHKidbuPAys8BYF0xcxmb2a2SPlrB+rcvo8yG/5b9dM/CqwDHowFtawhLkuycq57+4t9+O66n4fFVPE5VRt29Sd04nlVdPKie/qRGJuxKNwnLQD9EpdEHUQ3oh6h2ucsnF9xnRBKy6v3bZy+XlTN4vnhBNyd3ojqDToGO2xS+5X2SJLv7JWWPf6fCLSq7So6vtsTYat0k35DC7VL9O6Xhb89sNyNS/X2Sm5amXl38HKk3pchOqfYuafTJme1ND/spNZypxY83Y5JbJN1R/bunz396ee8FQMURXMZmdp2kX6t0I5ZhQ98EnbowqVMXig9mO3fE9f7D/jffk6mcHn+mdz2btiIjE7a+8ERPpZuBEtEPUWn0QVQD+iGqnXPxhJyLJ4rus9r3y3r7I5IkLz2pzNEvr2fTymP2bGVzUw61N8L4akOPrdbN8Lel2sNS80/5uZOTpyUr4ec5DjZL/Y9KzsJfWEry8yPXHZFaHvEXEMxclGreJsX2S9mBpRf06/g9KXtJmnrDz71s1Ug1d0jRPVLyjH9+ABvCpvw/HrABcRMEAAAAAKu3dcdWnlP450KcSen8H0jbPuIHmevukTzPT5dx+XPS5LHi5529AKA9IF38M6ntl6TG9/jHZ85LPX8kNTwoxQ4s3obRH/ozp+M3FrZr8HFp5PuSvOW8YwBVgOAyUD227k0QAAAAAJTP1hxb5YakM78hectYlDU3JF36lCRrOo3FmJ8Oo5jJl6QzvyV5mcLt6bNS93+RrDrJs2fSXPR+XjKWyDs+8oT/Y9X5s6ZzY5K7xGxpAFWJ4DJQXbbmTdAc4aCpB97eolDA1ImucZ25OKVQ0NQ7bmxU5464IiFLIxNZ/fj4kM73FuaMjEct3bAzoZ2tUTXWhhSPWMrYrsamchqbtPXauXFdHlzgpklSKGjq3bc1KxKy1DeS0bMnhpfVPkna0RLRnu1x7WyNqjYe0MBoVv0jGR0/O6axqWXc4KGq0A9RafRBVAP6ITYaa/s+WU27ZNa1yaxtlZdJyh3vlTvWp9zFE/JSY0uew4g1KHjdXTJrWmUmmiQrIC81LmfognLnX5Y7dmWmbLROoX33S4YhI9E0046mXQrf9sFZZ/Vkn3tR7ujlMr5bLGFrjq28UvPTO5Ldt4zzZhbe58z9d+UtL8B99dh5xwPYSAguA9Vna94EzRKPWOrckZAkjSdzujSY1iNH2tVUF8qXaa4La297PD+QtSxD9x9q1sHdNTJNo+B8ActUPBJQe1NE+ztqdOrChL53tF9ukSetEhFLN+yqma4jVHQgO7d93b1JvfttLdq3q3Dl8p2tUe1sjergnhp967m+BRdPQnWiH6LS6IOoBvRDbBjBqMKHHlZg+w0Fm41gRGaiUWo/oOB1h5V5+Rtyet9c+DTXvUPBfffJMAtnXRo1zTJrmhXouFWZF74kp/+sJMls2qnAzpvmnceMN8iMNxRscyeHCS6vvy0/tgKAtWZWugEAivq0pF+vdCOqgWlKDx/elh/E5hxPds6VJHnuTLkDHTW6aW9tfhDbN5zW693jOvrGiE52j2tkIpsvu29XjQ511pWlfeGgqQ8dac8PYseTtrquTGl4IivP80fKkZClD967XYnoEo+GoWrRD1Fp9EFUA/ohqpURa1D0/o/lA8tuekJ2z3FlTnxf9tnn5Yxc8ssFI4rc8WEFOm4reh5r23UKHXiXDNOS5zr+OV57wj/P+ZflZZMyDENmTUv+GHesT25yTG56Qp49M7PTc2y56YmZn9Q4geXKYWwFAGuImctA9eJbdkk37KxRwDLkep6ePj6kV86MyfWk1oawsvbMSNYwJMf1dOLcuF4+M6bRycLHwUxDuu9Qs265zh/A3nmgUcfPjivnrG6hiOt3+rOlHNfTD44N6GTXRH5fR1tU7z/cplDAlGUaurWzXj8+PrSq+lAZ9ENUGn0Q1YB+iGoVOvAumdFaSVKu7y1lXnpMyhU+wh/Ye4fCNz7kl993v3IXT0hOtqBM8IYj+deZo1/Jz06+KvvadxXouE3udLBakryJAaX++S/8OvbcrvBN7/Hbcel1ZV/5RpneIcqAsRUArBFmLgPVbct/yx6w/FlPT740oGOnx/KPzfaPZAoGqye7xvU33+zWD18enDeIlSTXk358fEipjL/CcThoqj4RLEsbHdfTN5/tLRjEStL53pRefGMk//v+3TVzD8UGQT9EpdEHUQ3oh6hGZsMOBdr3S5Lc5KgyLz46L7AsSblzR5W74qfDMMIxBa+9o7CAYcqs3SZJ8jJT8wLLfgWOcl3kTd7AtvzYCgDWAsFloPp9WtKvVboRlXSye3zeIHEux5VSGXfRMjnH08DozGCjrgwDWdf19I1ne9V1JVl0/8numXbHwpasObknsXHQD1Fp9EFUA/ohqk2w8+78a/v005LrLFjWPnc0/9pq2TtnrydNp09RKCoFI+VsJqrHlh9bAUC5EVwGqtvV50MflrQlR0BZ29WPXh4s2/mm0jMDjnhk9fkWUxlH3QsMYiUpmXaUc2YG2HFyPG5I9ENUGn0Q1YB+iGpk1s7kP3aGzi9a1puaWRTSmLPYnjxP7ni/v88wFX7bh6RASNhUtvzYCgDWAjmXgerlyb/p+a6kD2nmZmhLsXOusrmVvXXLlGKRgOIRS+Gg/11arAyD11JNpR3Vxf36o2FL41O5dW8DVod+iEqjD6Ia0A9RdUxLRtTP3e15ngJtN+QXbyzGMGbiiUY4IZkByZ3pA/abP5J1189LkgKt18p64Ddknzuq3PlX5GUm1+hNYJ0wtgKANUJwGahOs29+PihpfuI4FFUbD+jgnlrt70ioNlae/I2r5cxaoIgpElsD/RCVRh9ENaAfYq0ZsYZ8wNgwDIUOPlDC0Z5kFD7I6/SfVeb4dxU6+IAMKyAjFFNo3/0KXn9EzpVTst96Tu7YlTK+A6wTxlYAsIYILgPVh5ufFbrt+jrde3NTwawUyZ9p5UyvOhScXiUeWCv0Q1QafRDVgH6I9WCEZvIie54nd6x32cc6vaclJztve677X+UMdit0/d2y2g/KME0ZpqnANQdkte9X7twLyp58Ukx83TAYWwHAGiO4DFQXbn5W6Ka9tTpyS7Mkf0Gf186N62T3hEYmsrJnPcL74O0tOri7tlLNxCZHP0Sl0QdRDeiHWC9eciz/2jAMpZ/+/KIL+i37vJODyhz7uoyTTyqw6xYF994hIxyXYRgKXnuXvFxW9ptPrboerLktPrYyxJcgANYDwWWgemzxm5/VuX1fff71k8cGllzJHlgL9ENUGn0Q1YB+iPXipSfkOTkZlj+sNaK18qZGynf+zKTsM8/IPveCwrc8rMCOGyVJwc57ZL/1nOTYZasLZbc1x1ZGtdLHGwAADbZJREFUQGp+RKq9QzLjUvJ16dKfV7pVADY5c+kiANbB1rz5KZNE1FJt3M/laOdcvd7NIBbrj36ISqMPohrQD7HevORMMNms2742lTg5ZY59TV5mSpJkmKbM2tZFDzHM9V+wEnlbd2xVd5/U8C4p3SMNPibZQ5VuEYAtgJnLQOVt3ZufMqmZtUiQnXO10CLhpinVx6tjQSFsPvRDVBp9ENWAfoj15gx0yaxpkSQFO98h5/Lra1aXOzUsKxz3fynSua8GnyXJiCTWrB1Y1NYeWyUOSZ4jXflLyU1XujUAtghmLgOVtbVvfspkaDwrb/oGPxYJqK0xPK9MOGjqQ/e265qW6Ho3D1sE/RCVRh9ENaAfYr1lTz8tz/aDaFZdm0IHH5CMRYa5hiGrZa8UKux/ZuNOBTvvlqziX3oY0VqZtW2SJM915I73zSvjpf//9u49Rq7rLuD4d2Z3Zp/2PmzHa8ePxq1DmtakVEobk8QQSkMfoUhIiEcqQWkACQF/QCSKkPgDARJtQ9sUAm0ElJYW2ogqVGpKEFIlaIgJxIpJ88Bve3dt79Nr7+7szNyZe/njeL073pn1ztq7O2t/P5I13nvPvefc47Pre3977u/MzdRP9+yATOuCMlpRPls190B52sCypFXlzGXdzArAyBrW3wss9j6cNz83SDGKOTdWYPvmcAP/k/f38fqpSY4OTBPHCbv72nnnHRvo2ZAlSZIFK9dLN4LjUGvNMahG4DjUqivmiI6+QPbu9wGQeet9pDftpjT4fZLJUeLcBKlsO6m2jTRt2k1T317SrRvIH3qW8sD3r5ymadMusm9/iMye9xL1HyYeOUmcuwDpZpp6biez935SzSHwXD77RtWFA+NLwyRRgVSmhVRTM637H6V06mWIy6S33EF56NiKzqxeBWv5fLU+nq3SbdCyE2aOA2Vo2Q0tt0PxPORPh21VNYVyLdshugCFMxDPVDn3LsgfD+U774EkhulXQn7lTC+kW4EEWu8IxxTOQjK/K1KQ3QotOyAphf3RcI3rqFFXUqrcn5Qgezu07oLiEORPzJ0nsxXa9kA0CvmToWw1LTvCOeBy2RMsWIzw6jozfdC6O7Q/f6Z636ay4ZjsFihdhJkjVdqwhL6XtCiDy7qZfQtYPBnaynoNuLvGvsa4+bmJPP/SEI++fyfZTJqO1mbuvauHe+/qqSgzPFHg0JEJPvCerWvUSt3sHIdaa45BNQLHoVZbdPwgpJvI3PkgqXQTTd3baOq+Rv7lYmXwKJ4eByDV0k72bfvhbfurHhZfGqZw+NvVz1kqEJ18ieydDwKEdrzrkSu7k+kLNUOL68RaPl+tj2erjn2w7eMw8Dno+XHoeMfcvuIwDHwWSlflQW7ZCdseg2xfSLeSSkFcgKGvwuR/LTz32S/C5o+E8gADT0LHO0Ou5Vm7PhE+z/8tXDoY/p7tg22/EgK5800dhqGvQHlejvzF6sq9Nrd/8M9DnufOfXPHTh6Cc0/D5p8OfTD7S8R8f1hcsHxp3rXvCueZPf+sfD8Mfh7KFxe2afDz0PVgSAEya+YYDP4FxLm5be1vh62/CJl5//+ULsLZpyB/qr6+l7Qog8vS6mucm58VVojiK7OSClG85OOickIcJ6TTSz/u4nSJr/3bAPfv62Xvjsocd1MzJY70T/HCq2N0dWautKlY5dxLqbve9s2WSZKEYmnp/aAbw3EYOA7XjmMwcAyuLcdh4DhsYFHhynhIojpnDSYJ0ZHvUTr3Ji3veJh0z3ZSVVJSJIVpyqOnKJ05THnkRMW+8tk3KBz6Z5r3vId0V9+CWfVJYZro+EGik/8D5aj2Zbz571AukfmBAxWL+iWlIuWx0/Vdl5aiMZ+ttj0WApkDT0JpAroPQPePwvZfgzN/Mlcu3QE7fgfiaej/dJjd3HkP9H4Q+j4GxXNhJu18t/1cmFl79othpnLxPBQHYeoV2P6rIUh67ulQtnB5zKU7YecnINUUAqe510Pd3Q9B135It8DAZxZeR7W65uv7GETjMPhUSMex9aOw4d2Q+T3IbIHhf4T8Meh5GDa+N1zXyNfnju/YB8URGP5GuPZUGnreD70Ph6D20FcWtqnvl0Pfnns6BOw3PXK5z34iLGII0NwL238dkiKc/UI4d8s26H0EOu4JweXl9L2kqgwuS6urMW9+VsiZoRmeevYkmaY0ucLS52lM5ko89exJspk0+TqOm5iK+PaLQ7RkRujuzNDR1sTIRJHJ3NyrT+OXIv7y2ZOk0ynyxYUPlUupu972feO7g7S1NBGVYqJSjZWNtGIch4HjcO04BgPH4NpyHAaOw8ZVHjlB7rlPQnMW5i2MV49kcpT8wa8BkGrpJLVhM6nmFpJijiQ/SZKbWPT40sCrlAZehUwb6Y1bSGXbSYozJLkJkplLLHhNv3oriI6+QHT8IKmOHtJtXSRRnvjiEMQ1UgJouRr32Soag4En5nIfD/9DSJHRdkf4nA369n4QmtrCbNqZo2Hb5H+H427/jTDz9/zfVJ47lYaBPwtB6/lKExBf/sXHzP9V7tv0gVDP+b+DS/95eeMoDH0JMpug/S5o2zvXhmvVdeU6x8P+2RnDo/8U2p29LczSzp8M24e+Cp0/FILJ84PL41XeAhj9JnQ9AK17FqnzsxBPha/Pfwne+ino+MG54PKmD0M6C4N/HVJ5QJgxPv1aSK8By+t7SVUZXJZWT+Pe/KygqJQQlep/AbBUTiiVl/fiYCGKGbpQgAvV9xdLCYs9HCyl7nralySQy6/zlyDXOceh43CtOQYdg43Aceg4bHjlaNFZwfVIClMkhanlHRzNEI9d54zFuEwyOUp5cvT6zqNaGvvZ6uL3Fi6qN304BJdbd80Fl9v3hnL505CatwBq/hQkZchWSe8y/nztYG8t7XeHXMOXqqR6mHwJ2u8MeZqvDi5fq66L/1GZiqLQHz5zR+YCyxDyPkejkNm8hMYmIXVG88ZF6pz3vR3nQsC5uWtuW+tbIC6GPr/63LPtXU7fS6rK4LK0Ohr75keSJEmS1of1+WwVhbzeFUHQzNaQbmLvk9WPSWcXbouXcbmZLZeDxFV+uRZdzgFdLfBbb11xsfa+JAppOa7Wuge6DoSge9NGSGfCQnz1LKoX56F5Xm7lK9e7yNsGy+l7SVUZXJZW3vq8+ZEkSZKkxrJ+n61Sl8Mv5fkzmsshV/HZv6p+TDRWffuyVAnszm9XPcHcG2XDvSGHcnEopOsoXQgzrLf87HUGd9PVA9kVVrPvpZubwWVp5a3Pmx9JkiRJaizr49kqlV64rWV7+CzNC1pGo9CyC/InQlB1pUSjkN0a8g1fHUTO9oXP4vDK1V9L74fC7Oj+P61s16aPXF9wuTQWZi+nsmFRv2pWq++lW0CVn3iSbrDGv/mRJEmSpMa3Pp6tej8E2e1zX6fbwyzduAi5eXmNc2+GQHTXgZVtT+6NMJO3+6HK7elW6P6RkFZiQX7iVZDpBcqV6TSaN9XOt7xUuaPherseqNze3BMWL4TV63vpFuDMZWllrY+bH0mSJElqbOvn2SrdCjsfD6keiqMhyNncBeP/WrkY3fi/wMYfhi0/E2bazhwJM3mzt0HHPTD9vzDx3etvz/hzsHE/bP4pyGwKC+41dYZ2ZTbD8DNQXuYCmNcjdxQ698HWR+HSS9DSB70fDgvs1ZpxvBTj34GN9831a6E/LNDX9WD4N8m9uXp9L90CDC5LK+c7wO+zHm5+JEmSJKlxra9nq7FvhWBm9/vC7Ng4D2PPhe3zxTNw5o/htl+A7gPQ82Nhe1KGmRMwc2yubDK7GF+VRfmuqLGvPAWn/wi2fjQEmbsegCQJqSHOfgGmDlWWv1ZdNfcn4bxJleOS8sLtw38P6Y9D1/3hT3k69FN2C3S+e+ltSsqV20tj0P9J6Pulyj6degXGnw9f19P3khZlcFlaOY+vdQMkSZIk6Sawvp6t4iIMfRlGvglN7RCNENYirKI0AWefAtJhFjFcXtguqiw39TIc/S1IFomvn/yD2vtKYzD4OaAp1FO+GILe1Vyrrlr74xk49pvVcxj3fxpSqavaNAEDT4RZ1Ol2iGbzPqdg5Jmlt6n/UwvPXTgDp/8w5Jlu7oZofOGxS+17SYsyuCxJkiRJknSjxVOVaTAWLzwvuFrDYoFlYPFZzfPKREPXLnatumrtrxmYLdeMr1OeuiotR1I9QF2zTYucO56B4kyNnVcKXbvvJdXkgn6SJEmSJEmSpLoZXJYkSZIkSbpe5emQamEtFseTpDViWgxJkiRJkqTrlXsNTvzuWrdCklaVM5clSZIkSZIkSXUzuCxJkiRJkiRJqpvBZUmSJEmSJElS3QwuS5IkSZIkSZLqZnBZkiRJkiRJklQ3g8uSJEmSJEmSpLoZXJYkSZIkSZIk1c3gsiRJkiRJkiSpbgaXJUmSJEmSJEl1M7gsSZIkSZIkSaqbwWVJkiRJkiRJUt2a17oBkpYhRT8kz6x1M3RzSRJeXHJhx6BWQF1jEByHWhGOQzWCesZhUor7aU47BnVDper9WbjexXE/ab+PdIOlklvr+0i3rBTA119+4r6kmd9e68ZIy5UkyYs//67HP7PW7ZAkSZIkSapH8vpj95FOG5eTJEmSJEmSJEmSJEmSJEmSJEmSJEmSJEmSJEmSJEmSJEmSJEmSJEmSJEmSJEmSJEmSJOmm9f/6z00WgRuWL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221141"/>
            <a:ext cx="10901716" cy="438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7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Bootstrap sample is a random sample taken with replacement </a:t>
            </a:r>
          </a:p>
          <a:p>
            <a:r>
              <a:rPr lang="en-US" dirty="0"/>
              <a:t>After a data point is selected for inclusion in the sample it is still available for another selection.</a:t>
            </a:r>
          </a:p>
          <a:p>
            <a:r>
              <a:rPr lang="en-US" dirty="0"/>
              <a:t>A Bootstrap sample is the same size as the original dataset</a:t>
            </a:r>
          </a:p>
          <a:p>
            <a:r>
              <a:rPr lang="en-US" dirty="0"/>
              <a:t>There is less variability in the error measurement because observations in the sample will likely be replicated</a:t>
            </a:r>
          </a:p>
          <a:p>
            <a:r>
              <a:rPr lang="en-US" dirty="0"/>
              <a:t>But, this may increase the bias of the error measurement</a:t>
            </a:r>
          </a:p>
        </p:txBody>
      </p:sp>
    </p:spTree>
    <p:extLst>
      <p:ext uri="{BB962C8B-B14F-4D97-AF65-F5344CB8AC3E}">
        <p14:creationId xmlns:p14="http://schemas.microsoft.com/office/powerpoint/2010/main" val="170014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500187"/>
            <a:ext cx="98488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Partitioning the Data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600200"/>
            <a:ext cx="5638800" cy="4038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>
                <a:latin typeface="Franklin Gothic Book" pitchFamily="34" charset="0"/>
              </a:rPr>
              <a:t>Problem: How well will our model perform with new data?</a:t>
            </a:r>
          </a:p>
          <a:p>
            <a:pPr eaLnBrk="1" hangingPunct="1"/>
            <a:endParaRPr lang="en-US" altLang="en-US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en-US">
                <a:latin typeface="Franklin Gothic Book" pitchFamily="34" charset="0"/>
              </a:rPr>
              <a:t>Solution:  Separate data into two parts </a:t>
            </a:r>
          </a:p>
          <a:p>
            <a:pPr lvl="1" eaLnBrk="1" hangingPunct="1"/>
            <a:r>
              <a:rPr lang="en-US" altLang="en-US" u="sng">
                <a:latin typeface="Franklin Gothic Book" pitchFamily="34" charset="0"/>
              </a:rPr>
              <a:t>Training</a:t>
            </a:r>
            <a:r>
              <a:rPr lang="en-US" altLang="en-US">
                <a:latin typeface="Franklin Gothic Book" pitchFamily="34" charset="0"/>
              </a:rPr>
              <a:t> partition to develop the model</a:t>
            </a:r>
          </a:p>
          <a:p>
            <a:pPr lvl="1" eaLnBrk="1" hangingPunct="1"/>
            <a:r>
              <a:rPr lang="en-US" altLang="en-US" u="sng">
                <a:latin typeface="Franklin Gothic Book" pitchFamily="34" charset="0"/>
              </a:rPr>
              <a:t>Validation</a:t>
            </a:r>
            <a:r>
              <a:rPr lang="en-US" altLang="en-US">
                <a:latin typeface="Franklin Gothic Book" pitchFamily="34" charset="0"/>
              </a:rPr>
              <a:t> partition to implement the model and evaluate its performance on “new” data</a:t>
            </a:r>
          </a:p>
          <a:p>
            <a:pPr eaLnBrk="1" hangingPunct="1"/>
            <a:endParaRPr lang="en-US" altLang="en-US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en-US">
                <a:latin typeface="Franklin Gothic Book" pitchFamily="34" charset="0"/>
              </a:rPr>
              <a:t>Addresses the issue of overfitting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>
              <a:latin typeface="Franklin Gothic Book" pitchFamily="34" charset="0"/>
            </a:endParaRPr>
          </a:p>
        </p:txBody>
      </p:sp>
      <p:pic>
        <p:nvPicPr>
          <p:cNvPr id="3789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97814" y="1600200"/>
            <a:ext cx="261937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1798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try to control the complexity of machine learning algorithms and, consequently the bias-variance tradeoff</a:t>
            </a:r>
          </a:p>
          <a:p>
            <a:r>
              <a:rPr lang="en-US" dirty="0" err="1"/>
              <a:t>Hyperparameters</a:t>
            </a:r>
            <a:r>
              <a:rPr lang="en-US" dirty="0"/>
              <a:t> are parameters we can use to improve our model and control the bias-variance tradeoff</a:t>
            </a:r>
          </a:p>
          <a:p>
            <a:r>
              <a:rPr lang="en-US" dirty="0"/>
              <a:t>Most machine learning algorithms have at least one </a:t>
            </a:r>
            <a:r>
              <a:rPr lang="en-US" dirty="0" err="1"/>
              <a:t>hyperparameter</a:t>
            </a:r>
            <a:endParaRPr lang="en-US" dirty="0"/>
          </a:p>
          <a:p>
            <a:r>
              <a:rPr lang="en-US" dirty="0"/>
              <a:t>Ex: k-</a:t>
            </a:r>
            <a:r>
              <a:rPr lang="en-US" dirty="0" err="1"/>
              <a:t>nn</a:t>
            </a:r>
            <a:r>
              <a:rPr lang="en-US" dirty="0"/>
              <a:t> -  one parameter: k</a:t>
            </a:r>
          </a:p>
          <a:p>
            <a:r>
              <a:rPr lang="en-US" dirty="0"/>
              <a:t>If k is small, the basis for a decision is only on that small number – leads to high variability (but low bias)</a:t>
            </a:r>
          </a:p>
          <a:p>
            <a:r>
              <a:rPr lang="en-US" dirty="0"/>
              <a:t>As k gets larger we are basing our decision on the average of a larger subset – variability goes down, but bias goes up</a:t>
            </a:r>
          </a:p>
        </p:txBody>
      </p:sp>
    </p:spTree>
    <p:extLst>
      <p:ext uri="{BB962C8B-B14F-4D97-AF65-F5344CB8AC3E}">
        <p14:creationId xmlns:p14="http://schemas.microsoft.com/office/powerpoint/2010/main" val="3102477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can “fiddle” or manipulate the </a:t>
            </a:r>
            <a:r>
              <a:rPr lang="en-US" dirty="0" err="1"/>
              <a:t>hyperparameters</a:t>
            </a:r>
            <a:r>
              <a:rPr lang="en-US" dirty="0"/>
              <a:t> manually until we find a combination of </a:t>
            </a:r>
            <a:r>
              <a:rPr lang="en-US" dirty="0" err="1"/>
              <a:t>hyperparameter</a:t>
            </a:r>
            <a:r>
              <a:rPr lang="en-US" dirty="0"/>
              <a:t> values that results in high accuracy</a:t>
            </a:r>
          </a:p>
          <a:p>
            <a:r>
              <a:rPr lang="en-US" dirty="0"/>
              <a:t>Could be tedious and laborious to do if there a large number of available </a:t>
            </a:r>
            <a:r>
              <a:rPr lang="en-US" dirty="0" err="1"/>
              <a:t>hyperparameters</a:t>
            </a:r>
            <a:r>
              <a:rPr lang="en-US" dirty="0"/>
              <a:t> for the algorithm</a:t>
            </a:r>
          </a:p>
          <a:p>
            <a:r>
              <a:rPr lang="en-US" dirty="0"/>
              <a:t>Can do a </a:t>
            </a:r>
            <a:r>
              <a:rPr lang="en-US" b="1" dirty="0"/>
              <a:t>Grid Search: </a:t>
            </a:r>
            <a:r>
              <a:rPr lang="en-US" dirty="0"/>
              <a:t>and automated approach to searching the combinations of </a:t>
            </a:r>
            <a:r>
              <a:rPr lang="en-US" dirty="0" err="1"/>
              <a:t>hyperparameter</a:t>
            </a:r>
            <a:r>
              <a:rPr lang="en-US" dirty="0"/>
              <a:t> values </a:t>
            </a:r>
          </a:p>
          <a:p>
            <a:r>
              <a:rPr lang="en-US" dirty="0"/>
              <a:t>Example:  k-</a:t>
            </a:r>
            <a:r>
              <a:rPr lang="en-US" dirty="0" err="1"/>
              <a:t>nn</a:t>
            </a:r>
            <a:r>
              <a:rPr lang="en-US" dirty="0"/>
              <a:t> – a grid search would generate a list of possible values for k and perform a resampling method to (like k-fold CV) to determine which value of k might generalize best to new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792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Regression Models:</a:t>
            </a:r>
          </a:p>
          <a:p>
            <a:pPr lvl="1"/>
            <a:r>
              <a:rPr lang="en-US" dirty="0"/>
              <a:t>Mean Squared Error</a:t>
            </a:r>
          </a:p>
          <a:p>
            <a:pPr lvl="1"/>
            <a:r>
              <a:rPr lang="en-US" dirty="0"/>
              <a:t>Root Mean Squared Error</a:t>
            </a:r>
          </a:p>
          <a:p>
            <a:pPr lvl="1"/>
            <a:r>
              <a:rPr lang="en-US" dirty="0"/>
              <a:t>Mean Absolute Error</a:t>
            </a:r>
          </a:p>
          <a:p>
            <a:pPr lvl="1"/>
            <a:r>
              <a:rPr lang="en-US" dirty="0"/>
              <a:t>Mean Absolute Deviation</a:t>
            </a:r>
          </a:p>
          <a:p>
            <a:pPr marL="2240280" lvl="8" indent="0">
              <a:buNone/>
            </a:pPr>
            <a:endParaRPr lang="en-US" dirty="0"/>
          </a:p>
          <a:p>
            <a:r>
              <a:rPr lang="en-US" dirty="0"/>
              <a:t>Classification Models</a:t>
            </a:r>
          </a:p>
          <a:p>
            <a:pPr lvl="1"/>
            <a:r>
              <a:rPr lang="en-US" dirty="0"/>
              <a:t>Misclassification</a:t>
            </a:r>
          </a:p>
          <a:p>
            <a:pPr lvl="1"/>
            <a:r>
              <a:rPr lang="en-US" dirty="0"/>
              <a:t>Confusion Matrix – compares actual categorical levels to predicted levels </a:t>
            </a:r>
          </a:p>
          <a:p>
            <a:pPr marL="2240280" lvl="8" indent="0">
              <a:buNone/>
            </a:pPr>
            <a:endParaRPr lang="en-US" dirty="0"/>
          </a:p>
          <a:p>
            <a:pPr marL="2240280" lvl="8" indent="0">
              <a:buNone/>
            </a:pPr>
            <a:endParaRPr lang="en-US" dirty="0"/>
          </a:p>
          <a:p>
            <a:pPr marL="319088" lvl="1" indent="0">
              <a:buNone/>
            </a:pPr>
            <a:endParaRPr lang="en-US" dirty="0"/>
          </a:p>
          <a:p>
            <a:pPr marL="2240280" lvl="8" indent="0">
              <a:buNone/>
            </a:pPr>
            <a:endParaRPr lang="en-US" dirty="0"/>
          </a:p>
          <a:p>
            <a:pPr marL="319088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143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Accuracy – measure of correct classification – opposite of misclassification</a:t>
            </a:r>
          </a:p>
          <a:p>
            <a:r>
              <a:rPr lang="en-US" dirty="0"/>
              <a:t>Precision -  of the number of predictions we made, how many were correct?</a:t>
            </a:r>
          </a:p>
          <a:p>
            <a:r>
              <a:rPr lang="en-US" dirty="0"/>
              <a:t>Sensitivity – For the events that occurred, how many did we predict? True positive rate</a:t>
            </a:r>
          </a:p>
          <a:p>
            <a:r>
              <a:rPr lang="en-US" dirty="0"/>
              <a:t>Specificity – How accurately did we predict non-events? True negative rate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9" y="3914077"/>
            <a:ext cx="10196039" cy="27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66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                 | </a:t>
            </a:r>
            <a:r>
              <a:rPr lang="en-US" dirty="0" err="1"/>
              <a:t>wbcd_test_pred</a:t>
            </a:r>
            <a:r>
              <a:rPr lang="en-US" dirty="0"/>
              <a:t> </a:t>
            </a:r>
          </a:p>
          <a:p>
            <a:r>
              <a:rPr lang="en-US" dirty="0"/>
              <a:t>Actual       | Benign | Malignant | Row Total | </a:t>
            </a:r>
          </a:p>
          <a:p>
            <a:r>
              <a:rPr lang="en-US" dirty="0"/>
              <a:t>--------------------------------------|-----------   |</a:t>
            </a:r>
          </a:p>
          <a:p>
            <a:r>
              <a:rPr lang="en-US" dirty="0"/>
              <a:t> Benign     |        61   |         0    |        61     | </a:t>
            </a:r>
          </a:p>
          <a:p>
            <a:r>
              <a:rPr lang="en-US" dirty="0"/>
              <a:t>                 |     1.000 |     0.000 |     0.610   | </a:t>
            </a:r>
          </a:p>
          <a:p>
            <a:r>
              <a:rPr lang="en-US" dirty="0"/>
              <a:t>                 |     0.953 |     0.000 |                  | </a:t>
            </a:r>
          </a:p>
          <a:p>
            <a:r>
              <a:rPr lang="en-US" dirty="0"/>
              <a:t>                 |     0.610 |     0.000 |                  | </a:t>
            </a:r>
          </a:p>
          <a:p>
            <a:r>
              <a:rPr lang="en-US" dirty="0"/>
              <a:t>------------|-----------|-----------|-----------    |</a:t>
            </a:r>
          </a:p>
          <a:p>
            <a:r>
              <a:rPr lang="en-US" dirty="0"/>
              <a:t> Malignant|         3    |        36    |             39   | </a:t>
            </a:r>
          </a:p>
          <a:p>
            <a:r>
              <a:rPr lang="en-US" dirty="0"/>
              <a:t>                 |     0.077 |     0.923 |        0.390   | </a:t>
            </a:r>
          </a:p>
          <a:p>
            <a:r>
              <a:rPr lang="en-US" dirty="0"/>
              <a:t>                 |     0.047 |     1.000 |                     | </a:t>
            </a:r>
          </a:p>
          <a:p>
            <a:r>
              <a:rPr lang="en-US" dirty="0"/>
              <a:t>                 |     0.030 |     0.360 |                     | </a:t>
            </a:r>
          </a:p>
          <a:p>
            <a:r>
              <a:rPr lang="en-US" dirty="0"/>
              <a:t>------------|-----------|-----------|-----------      |</a:t>
            </a:r>
          </a:p>
          <a:p>
            <a:r>
              <a:rPr lang="en-US" dirty="0"/>
              <a:t>Column Total        64 |        36    |           100      </a:t>
            </a:r>
          </a:p>
          <a:p>
            <a:r>
              <a:rPr lang="en-US" dirty="0"/>
              <a:t>                         |     0.640 |     0.360 |              | </a:t>
            </a:r>
          </a:p>
          <a:p>
            <a:r>
              <a:rPr lang="en-US" dirty="0"/>
              <a:t>-----------------|-----------|-----------|-----------|</a:t>
            </a:r>
          </a:p>
        </p:txBody>
      </p:sp>
    </p:spTree>
    <p:extLst>
      <p:ext uri="{BB962C8B-B14F-4D97-AF65-F5344CB8AC3E}">
        <p14:creationId xmlns:p14="http://schemas.microsoft.com/office/powerpoint/2010/main" val="518367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AUC:   Area Under the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ROC curve</a:t>
            </a:r>
          </a:p>
          <a:p>
            <a:r>
              <a:rPr lang="en-US" dirty="0"/>
              <a:t>Plots the false positive rate along the x-axis and the true positive rate along the y axis</a:t>
            </a:r>
          </a:p>
          <a:p>
            <a:r>
              <a:rPr lang="en-US" dirty="0"/>
              <a:t>Random guess marks the straight line from the origin to the upper right corner</a:t>
            </a:r>
          </a:p>
          <a:p>
            <a:r>
              <a:rPr lang="en-US" dirty="0"/>
              <a:t>The higher the line drifts to the upper left hand corner the better</a:t>
            </a:r>
          </a:p>
          <a:p>
            <a:r>
              <a:rPr lang="en-US" dirty="0"/>
              <a:t>AUC computes the area under the curve</a:t>
            </a:r>
          </a:p>
        </p:txBody>
      </p:sp>
    </p:spTree>
    <p:extLst>
      <p:ext uri="{BB962C8B-B14F-4D97-AF65-F5344CB8AC3E}">
        <p14:creationId xmlns:p14="http://schemas.microsoft.com/office/powerpoint/2010/main" val="1432827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211" y="824449"/>
            <a:ext cx="6612140" cy="462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710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ty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ty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20839</TotalTime>
  <Words>1228</Words>
  <Application>Microsoft Office PowerPoint</Application>
  <PresentationFormat>Widescreen</PresentationFormat>
  <Paragraphs>141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Franklin Gothic Book</vt:lpstr>
      <vt:lpstr>Perpetua</vt:lpstr>
      <vt:lpstr>Wingdings 2</vt:lpstr>
      <vt:lpstr>Equity</vt:lpstr>
      <vt:lpstr>The Modeling Process</vt:lpstr>
      <vt:lpstr>Types of Variables</vt:lpstr>
      <vt:lpstr>Variable handling</vt:lpstr>
      <vt:lpstr>Normalizing (Standardizing) Data </vt:lpstr>
      <vt:lpstr>Detecting Outliers</vt:lpstr>
      <vt:lpstr>The Problem of Overfitting</vt:lpstr>
      <vt:lpstr>100% fit – not useful for new data</vt:lpstr>
      <vt:lpstr>Overfitting </vt:lpstr>
      <vt:lpstr>PowerPoint Presentation</vt:lpstr>
      <vt:lpstr>Bias</vt:lpstr>
      <vt:lpstr>Variance </vt:lpstr>
      <vt:lpstr>PowerPoint Presentation</vt:lpstr>
      <vt:lpstr>PowerPoint Presentation</vt:lpstr>
      <vt:lpstr>Resampling Methods:  K-fold Cross Validation</vt:lpstr>
      <vt:lpstr>PowerPoint Presentation</vt:lpstr>
      <vt:lpstr>Bootstrapping </vt:lpstr>
      <vt:lpstr>PowerPoint Presentation</vt:lpstr>
      <vt:lpstr>Partitioning the Data</vt:lpstr>
      <vt:lpstr>Hyperparameter Tuning</vt:lpstr>
      <vt:lpstr>Hyperparameters</vt:lpstr>
      <vt:lpstr>Model Evaluation </vt:lpstr>
      <vt:lpstr>Confusion Matrix</vt:lpstr>
      <vt:lpstr>PowerPoint Presentation</vt:lpstr>
      <vt:lpstr>AUC:   Area Under the Curve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John Stewart</cp:lastModifiedBy>
  <cp:revision>34</cp:revision>
  <dcterms:created xsi:type="dcterms:W3CDTF">2020-08-27T20:20:41Z</dcterms:created>
  <dcterms:modified xsi:type="dcterms:W3CDTF">2023-01-08T19:05:11Z</dcterms:modified>
</cp:coreProperties>
</file>